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7" r:id="rId12"/>
    <p:sldId id="269" r:id="rId13"/>
    <p:sldId id="270"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BFB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8288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645920"/>
            <a:ext cx="10362895" cy="2011680"/>
          </a:xfrm>
          <a:prstGeom prst="rect">
            <a:avLst/>
          </a:prstGeom>
          <a:noFill/>
        </p:spPr>
        <p:txBody>
          <a:bodyPr wrap="square" tIns="91440" bIns="91440">
            <a:spAutoFit/>
          </a:bodyPr>
          <a:lstStyle/>
          <a:p>
            <a:pPr>
              <a:spcAft>
                <a:spcPts val="800"/>
              </a:spcAft>
              <a:defRPr sz="1400" b="1">
                <a:solidFill>
                  <a:srgbClr val="059669"/>
                </a:solidFill>
                <a:latin typeface="Arial"/>
              </a:defRPr>
            </a:pPr>
            <a:r>
              <a:t>ĐỒ ÁN MÔN HỌC CÔNG NGHỆ PHẦN MỀM</a:t>
            </a:r>
          </a:p>
          <a:p>
            <a:pPr>
              <a:defRPr sz="3600" b="1">
                <a:solidFill>
                  <a:srgbClr val="0F172A"/>
                </a:solidFill>
                <a:latin typeface="Georgia"/>
              </a:defRPr>
            </a:pPr>
            <a:r>
              <a:t>XÂY DỰNG HỆ THỐNG VẬN HÀNH VÀ QUẢN LÝ SÂN THỂ THAO</a:t>
            </a:r>
          </a:p>
        </p:txBody>
      </p:sp>
      <p:sp>
        <p:nvSpPr>
          <p:cNvPr id="4" name="TextBox 3"/>
          <p:cNvSpPr txBox="1"/>
          <p:nvPr/>
        </p:nvSpPr>
        <p:spPr>
          <a:xfrm>
            <a:off x="914400" y="4114800"/>
            <a:ext cx="4114800" cy="1828800"/>
          </a:xfrm>
          <a:prstGeom prst="rect">
            <a:avLst/>
          </a:prstGeom>
          <a:noFill/>
        </p:spPr>
        <p:txBody>
          <a:bodyPr wrap="square" tIns="91440" bIns="91440">
            <a:spAutoFit/>
          </a:bodyPr>
          <a:lstStyle/>
          <a:p>
            <a:pPr>
              <a:spcAft>
                <a:spcPts val="400"/>
              </a:spcAft>
              <a:defRPr sz="1200" b="1">
                <a:solidFill>
                  <a:srgbClr val="64748B"/>
                </a:solidFill>
                <a:latin typeface="Arial"/>
              </a:defRPr>
            </a:pPr>
            <a:r>
              <a:t>GIÁO VIÊN HƯỚNG DẪN:</a:t>
            </a:r>
          </a:p>
          <a:p>
            <a:pPr>
              <a:defRPr sz="1800" b="1">
                <a:solidFill>
                  <a:srgbClr val="0F172A"/>
                </a:solidFill>
                <a:latin typeface="Arial"/>
              </a:defRPr>
            </a:pPr>
            <a:r>
              <a:t>TS. Nguyễn Bảo Ân</a:t>
            </a:r>
          </a:p>
        </p:txBody>
      </p:sp>
      <p:sp>
        <p:nvSpPr>
          <p:cNvPr id="5" name="TextBox 4"/>
          <p:cNvSpPr txBox="1"/>
          <p:nvPr/>
        </p:nvSpPr>
        <p:spPr>
          <a:xfrm>
            <a:off x="5943600" y="4114800"/>
            <a:ext cx="5303520" cy="1828800"/>
          </a:xfrm>
          <a:prstGeom prst="rect">
            <a:avLst/>
          </a:prstGeom>
          <a:noFill/>
        </p:spPr>
        <p:txBody>
          <a:bodyPr wrap="square" tIns="91440" bIns="91440">
            <a:spAutoFit/>
          </a:bodyPr>
          <a:lstStyle/>
          <a:p>
            <a:pPr>
              <a:spcAft>
                <a:spcPts val="400"/>
              </a:spcAft>
              <a:defRPr sz="1200" b="1">
                <a:solidFill>
                  <a:srgbClr val="64748B"/>
                </a:solidFill>
                <a:latin typeface="Arial"/>
              </a:defRPr>
            </a:pPr>
            <a:r>
              <a:t>SINH VIÊN THỰC HIỆN:</a:t>
            </a:r>
          </a:p>
          <a:p>
            <a:pPr>
              <a:spcAft>
                <a:spcPts val="400"/>
              </a:spcAft>
              <a:defRPr sz="1400">
                <a:solidFill>
                  <a:srgbClr val="1E293B"/>
                </a:solidFill>
                <a:latin typeface="Arial"/>
              </a:defRPr>
            </a:pPr>
            <a:r>
              <a:t>Nguyễn Gia Nguyên (MSSV: 110123239)</a:t>
            </a:r>
          </a:p>
          <a:p>
            <a:pPr>
              <a:spcAft>
                <a:spcPts val="400"/>
              </a:spcAft>
              <a:defRPr sz="1400">
                <a:solidFill>
                  <a:srgbClr val="1E293B"/>
                </a:solidFill>
                <a:latin typeface="Arial"/>
              </a:defRPr>
            </a:pPr>
            <a:r>
              <a:t>Nguyễn Thị Hân Du (MSSV: 110123079)</a:t>
            </a:r>
          </a:p>
          <a:p>
            <a:pPr>
              <a:spcAft>
                <a:spcPts val="400"/>
              </a:spcAft>
              <a:defRPr sz="1400">
                <a:solidFill>
                  <a:srgbClr val="1E293B"/>
                </a:solidFill>
                <a:latin typeface="Arial"/>
              </a:defRPr>
            </a:pPr>
            <a:r>
              <a:t>Nguyễn Hữu Lộc (MSSV: 110123124)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BFBFA"/>
        </a:solidFill>
        <a:effectLst/>
      </p:bgPr>
    </p:bg>
    <p:spTree>
      <p:nvGrpSpPr>
        <p:cNvPr id="1" name=""/>
        <p:cNvGrpSpPr/>
        <p:nvPr/>
      </p:nvGrpSpPr>
      <p:grpSpPr>
        <a:xfrm>
          <a:off x="0" y="0"/>
          <a:ext cx="0" cy="0"/>
          <a:chOff x="0" y="0"/>
          <a:chExt cx="0" cy="0"/>
        </a:xfrm>
      </p:grpSpPr>
      <p:sp>
        <p:nvSpPr>
          <p:cNvPr id="2" name="TextBox 1"/>
          <p:cNvSpPr txBox="1"/>
          <p:nvPr/>
        </p:nvSpPr>
        <p:spPr>
          <a:xfrm>
            <a:off x="685800" y="457200"/>
            <a:ext cx="10820095" cy="914400"/>
          </a:xfrm>
          <a:prstGeom prst="rect">
            <a:avLst/>
          </a:prstGeom>
          <a:noFill/>
        </p:spPr>
        <p:txBody>
          <a:bodyPr wrap="square" lIns="0" tIns="0" rIns="0" bIns="0">
            <a:spAutoFit/>
          </a:bodyPr>
          <a:lstStyle/>
          <a:p>
            <a:pPr>
              <a:defRPr sz="2800" b="1">
                <a:solidFill>
                  <a:srgbClr val="0F172A"/>
                </a:solidFill>
                <a:latin typeface="Georgia"/>
              </a:defRPr>
            </a:pPr>
            <a:r>
              <a:t>Đặt vấn đề</a:t>
            </a:r>
          </a:p>
        </p:txBody>
      </p:sp>
      <p:sp>
        <p:nvSpPr>
          <p:cNvPr id="3" name="Rectangle 2"/>
          <p:cNvSpPr/>
          <p:nvPr/>
        </p:nvSpPr>
        <p:spPr>
          <a:xfrm>
            <a:off x="685800" y="1188720"/>
            <a:ext cx="10820095" cy="2540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828800"/>
            <a:ext cx="5029200" cy="4114800"/>
          </a:xfrm>
          <a:prstGeom prst="rect">
            <a:avLst/>
          </a:prstGeom>
          <a:noFill/>
        </p:spPr>
        <p:txBody>
          <a:bodyPr wrap="square" tIns="91440" bIns="91440">
            <a:spAutoFit/>
          </a:bodyPr>
          <a:lstStyle/>
          <a:p>
            <a:pPr>
              <a:spcAft>
                <a:spcPts val="1400"/>
              </a:spcAft>
              <a:defRPr sz="2200" b="1">
                <a:solidFill>
                  <a:srgbClr val="059669"/>
                </a:solidFill>
                <a:latin typeface="Georgia"/>
              </a:defRPr>
            </a:pPr>
            <a:r>
              <a:t>Thách thức của phương thức quản lý truyền thống</a:t>
            </a:r>
          </a:p>
          <a:p>
            <a:pPr>
              <a:spcAft>
                <a:spcPts val="1000"/>
              </a:spcAft>
              <a:defRPr sz="1600">
                <a:solidFill>
                  <a:srgbClr val="1E293B"/>
                </a:solidFill>
                <a:latin typeface="Arial"/>
              </a:defRPr>
            </a:pPr>
            <a:r>
              <a:t>Hàng nghìn cơ sở sân thể thao vừa và nhỏ tại Việt Nam vẫn đang vận hành thủ công dựa trên sổ tay, tin nhắn và trí nhớ của nhân viên. Điều này đặt ra yêu cầu cấp thiết về việc số hóa toàn bộ quy trình vận hành.</a:t>
            </a:r>
          </a:p>
        </p:txBody>
      </p:sp>
      <p:sp>
        <p:nvSpPr>
          <p:cNvPr id="5" name="Rounded Rectangle 4"/>
          <p:cNvSpPr/>
          <p:nvPr/>
        </p:nvSpPr>
        <p:spPr>
          <a:xfrm>
            <a:off x="6217920" y="1645920"/>
            <a:ext cx="5303520" cy="914400"/>
          </a:xfrm>
          <a:prstGeom prst="roundRect">
            <a:avLst/>
          </a:prstGeom>
          <a:solidFill>
            <a:srgbClr val="F1F5F9"/>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defRPr sz="1400" b="1">
                <a:solidFill>
                  <a:srgbClr val="059669"/>
                </a:solidFill>
                <a:latin typeface="Arial"/>
              </a:defRPr>
            </a:pPr>
            <a:r>
              <a:t>• Hạn chế của sổ sách</a:t>
            </a:r>
          </a:p>
          <a:p>
            <a:pPr>
              <a:defRPr sz="1200">
                <a:solidFill>
                  <a:srgbClr val="1E293B"/>
                </a:solidFill>
                <a:latin typeface="Arial"/>
              </a:defRPr>
            </a:pPr>
            <a:r>
              <a:t>Quản lý bằng sổ tay, tin nhắn dễ ghi nhầm, thất lạc thông tin.</a:t>
            </a:r>
          </a:p>
        </p:txBody>
      </p:sp>
      <p:sp>
        <p:nvSpPr>
          <p:cNvPr id="6" name="Rounded Rectangle 5"/>
          <p:cNvSpPr/>
          <p:nvPr/>
        </p:nvSpPr>
        <p:spPr>
          <a:xfrm>
            <a:off x="6217920" y="2743200"/>
            <a:ext cx="5303520" cy="914400"/>
          </a:xfrm>
          <a:prstGeom prst="roundRect">
            <a:avLst/>
          </a:prstGeom>
          <a:solidFill>
            <a:srgbClr val="F1F5F9"/>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defRPr sz="1400" b="1">
                <a:solidFill>
                  <a:srgbClr val="059669"/>
                </a:solidFill>
                <a:latin typeface="Arial"/>
              </a:defRPr>
            </a:pPr>
            <a:r>
              <a:t>• Trùng lịch đặt sân</a:t>
            </a:r>
          </a:p>
          <a:p>
            <a:pPr>
              <a:defRPr sz="1200">
                <a:solidFill>
                  <a:srgbClr val="1E293B"/>
                </a:solidFill>
                <a:latin typeface="Arial"/>
              </a:defRPr>
            </a:pPr>
            <a:r>
              <a:t>Khách hàng đến sân bị trùng lịch, gây trải nghiệm rất tệ.</a:t>
            </a:r>
          </a:p>
        </p:txBody>
      </p:sp>
      <p:sp>
        <p:nvSpPr>
          <p:cNvPr id="7" name="Rounded Rectangle 6"/>
          <p:cNvSpPr/>
          <p:nvPr/>
        </p:nvSpPr>
        <p:spPr>
          <a:xfrm>
            <a:off x="6217920" y="3840480"/>
            <a:ext cx="5303520" cy="914400"/>
          </a:xfrm>
          <a:prstGeom prst="roundRect">
            <a:avLst/>
          </a:prstGeom>
          <a:solidFill>
            <a:srgbClr val="F1F5F9"/>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defRPr sz="1400" b="1">
                <a:solidFill>
                  <a:srgbClr val="059669"/>
                </a:solidFill>
                <a:latin typeface="Arial"/>
              </a:defRPr>
            </a:pPr>
            <a:r>
              <a:t>• Theo dõi thanh toán</a:t>
            </a:r>
          </a:p>
          <a:p>
            <a:pPr>
              <a:defRPr sz="1200">
                <a:solidFill>
                  <a:srgbClr val="1E293B"/>
                </a:solidFill>
                <a:latin typeface="Arial"/>
              </a:defRPr>
            </a:pPr>
            <a:r>
              <a:t>Khó đối soát minh chứng chuyển khoản hoặc tiền mặt thủ công.</a:t>
            </a:r>
          </a:p>
        </p:txBody>
      </p:sp>
      <p:sp>
        <p:nvSpPr>
          <p:cNvPr id="8" name="Rounded Rectangle 7"/>
          <p:cNvSpPr/>
          <p:nvPr/>
        </p:nvSpPr>
        <p:spPr>
          <a:xfrm>
            <a:off x="6217920" y="4937760"/>
            <a:ext cx="5303520" cy="914400"/>
          </a:xfrm>
          <a:prstGeom prst="roundRect">
            <a:avLst/>
          </a:prstGeom>
          <a:solidFill>
            <a:srgbClr val="F1F5F9"/>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defRPr sz="1400" b="1">
                <a:solidFill>
                  <a:srgbClr val="059669"/>
                </a:solidFill>
                <a:latin typeface="Arial"/>
              </a:defRPr>
            </a:pPr>
            <a:r>
              <a:t>• Báo cáo doanh thu</a:t>
            </a:r>
          </a:p>
          <a:p>
            <a:pPr>
              <a:defRPr sz="1200">
                <a:solidFill>
                  <a:srgbClr val="1E293B"/>
                </a:solidFill>
                <a:latin typeface="Arial"/>
              </a:defRPr>
            </a:pPr>
            <a:r>
              <a:t>Mất nhiều thời gian để tổng hợp doanh thu, khó tối ưu hóa kinh doanh.</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BFBFA"/>
        </a:solidFill>
        <a:effectLst/>
      </p:bgPr>
    </p:bg>
    <p:spTree>
      <p:nvGrpSpPr>
        <p:cNvPr id="1" name=""/>
        <p:cNvGrpSpPr/>
        <p:nvPr/>
      </p:nvGrpSpPr>
      <p:grpSpPr>
        <a:xfrm>
          <a:off x="0" y="0"/>
          <a:ext cx="0" cy="0"/>
          <a:chOff x="0" y="0"/>
          <a:chExt cx="0" cy="0"/>
        </a:xfrm>
      </p:grpSpPr>
      <p:sp>
        <p:nvSpPr>
          <p:cNvPr id="2" name="TextBox 1"/>
          <p:cNvSpPr txBox="1"/>
          <p:nvPr/>
        </p:nvSpPr>
        <p:spPr>
          <a:xfrm>
            <a:off x="685800" y="457200"/>
            <a:ext cx="10820095" cy="914400"/>
          </a:xfrm>
          <a:prstGeom prst="rect">
            <a:avLst/>
          </a:prstGeom>
          <a:noFill/>
        </p:spPr>
        <p:txBody>
          <a:bodyPr wrap="square" lIns="0" tIns="0" rIns="0" bIns="0">
            <a:spAutoFit/>
          </a:bodyPr>
          <a:lstStyle/>
          <a:p>
            <a:pPr>
              <a:defRPr sz="2800" b="1">
                <a:solidFill>
                  <a:srgbClr val="0F172A"/>
                </a:solidFill>
                <a:latin typeface="Georgia"/>
              </a:defRPr>
            </a:pPr>
            <a:r>
              <a:t>Mục tiêu đề tài</a:t>
            </a:r>
          </a:p>
        </p:txBody>
      </p:sp>
      <p:sp>
        <p:nvSpPr>
          <p:cNvPr id="3" name="Rectangle 2"/>
          <p:cNvSpPr/>
          <p:nvPr/>
        </p:nvSpPr>
        <p:spPr>
          <a:xfrm>
            <a:off x="685800" y="1188720"/>
            <a:ext cx="10820095" cy="2540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463040"/>
            <a:ext cx="10820095" cy="731520"/>
          </a:xfrm>
          <a:prstGeom prst="rect">
            <a:avLst/>
          </a:prstGeom>
          <a:noFill/>
        </p:spPr>
        <p:txBody>
          <a:bodyPr wrap="square" tIns="91440" bIns="91440">
            <a:spAutoFit/>
          </a:bodyPr>
          <a:lstStyle/>
          <a:p>
            <a:pPr>
              <a:defRPr sz="2000" b="1">
                <a:solidFill>
                  <a:srgbClr val="059669"/>
                </a:solidFill>
                <a:latin typeface="Georgia"/>
              </a:defRPr>
            </a:pPr>
            <a:r>
              <a:t>Số hóa toàn diện quy trình vận hành và cho thuê sân thể thao</a:t>
            </a:r>
          </a:p>
        </p:txBody>
      </p:sp>
      <p:sp>
        <p:nvSpPr>
          <p:cNvPr id="5" name="Rounded Rectangle 4"/>
          <p:cNvSpPr/>
          <p:nvPr/>
        </p:nvSpPr>
        <p:spPr>
          <a:xfrm>
            <a:off x="685800" y="2194560"/>
            <a:ext cx="3383280" cy="3657600"/>
          </a:xfrm>
          <a:prstGeom prst="roundRect">
            <a:avLst/>
          </a:prstGeom>
          <a:solidFill>
            <a:srgbClr val="F1F5F9"/>
          </a:solidFill>
          <a:ln w="25400">
            <a:solidFill>
              <a:srgbClr val="059669"/>
            </a:solid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spcAft>
                <a:spcPts val="1000"/>
              </a:spcAft>
              <a:defRPr sz="3200" b="1">
                <a:solidFill>
                  <a:srgbClr val="059669"/>
                </a:solidFill>
                <a:latin typeface="Georgia"/>
              </a:defRPr>
            </a:pPr>
            <a:r>
              <a:t>01</a:t>
            </a:r>
          </a:p>
          <a:p>
            <a:pPr>
              <a:spcAft>
                <a:spcPts val="800"/>
              </a:spcAft>
              <a:defRPr sz="1600" b="1">
                <a:solidFill>
                  <a:srgbClr val="059669"/>
                </a:solidFill>
                <a:latin typeface="Arial"/>
              </a:defRPr>
            </a:pPr>
            <a:r>
              <a:t>Hệ thống thông minh</a:t>
            </a:r>
          </a:p>
          <a:p>
            <a:pPr>
              <a:defRPr sz="1300">
                <a:solidFill>
                  <a:srgbClr val="1E293B"/>
                </a:solidFill>
                <a:latin typeface="Arial"/>
              </a:defRPr>
            </a:pPr>
            <a:r>
              <a:t>Xây dựng website quản lý, đặt sân trực tuyến với cơ chế tự động kiểm tra trùng lịch và tự dọn dẹp các booking chưa thanh toán quá hạn.</a:t>
            </a:r>
          </a:p>
        </p:txBody>
      </p:sp>
      <p:sp>
        <p:nvSpPr>
          <p:cNvPr id="6" name="Rounded Rectangle 5"/>
          <p:cNvSpPr/>
          <p:nvPr/>
        </p:nvSpPr>
        <p:spPr>
          <a:xfrm>
            <a:off x="4434840" y="2194560"/>
            <a:ext cx="3383280" cy="3657600"/>
          </a:xfrm>
          <a:prstGeom prst="roundRect">
            <a:avLst/>
          </a:prstGeom>
          <a:solidFill>
            <a:srgbClr val="F1F5F9"/>
          </a:solidFill>
          <a:ln w="25400">
            <a:solidFill>
              <a:srgbClr val="0284C7"/>
            </a:solid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spcAft>
                <a:spcPts val="1000"/>
              </a:spcAft>
              <a:defRPr sz="3200" b="1">
                <a:solidFill>
                  <a:srgbClr val="0284C7"/>
                </a:solidFill>
                <a:latin typeface="Georgia"/>
              </a:defRPr>
            </a:pPr>
            <a:r>
              <a:t>02</a:t>
            </a:r>
          </a:p>
          <a:p>
            <a:pPr>
              <a:spcAft>
                <a:spcPts val="800"/>
              </a:spcAft>
              <a:defRPr sz="1600" b="1">
                <a:solidFill>
                  <a:srgbClr val="0284C7"/>
                </a:solidFill>
                <a:latin typeface="Arial"/>
              </a:defRPr>
            </a:pPr>
            <a:r>
              <a:t>Phát triển tinh gọn</a:t>
            </a:r>
          </a:p>
          <a:p>
            <a:pPr>
              <a:defRPr sz="1300">
                <a:solidFill>
                  <a:srgbClr val="1E293B"/>
                </a:solidFill>
                <a:latin typeface="Arial"/>
              </a:defRPr>
            </a:pPr>
            <a:r>
              <a:t>Áp dụng phương pháp Agile - Scrum vào quá trình phân tích, phát triển và quản lý tiến độ dự án sát với thực tế doanh nghiệp.</a:t>
            </a:r>
          </a:p>
        </p:txBody>
      </p:sp>
      <p:sp>
        <p:nvSpPr>
          <p:cNvPr id="7" name="Rounded Rectangle 6"/>
          <p:cNvSpPr/>
          <p:nvPr/>
        </p:nvSpPr>
        <p:spPr>
          <a:xfrm>
            <a:off x="8183880" y="2194560"/>
            <a:ext cx="3383280" cy="3657600"/>
          </a:xfrm>
          <a:prstGeom prst="roundRect">
            <a:avLst/>
          </a:prstGeom>
          <a:solidFill>
            <a:srgbClr val="F1F5F9"/>
          </a:solidFill>
          <a:ln w="25400">
            <a:solidFill>
              <a:srgbClr val="0F172A"/>
            </a:solid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spcAft>
                <a:spcPts val="1000"/>
              </a:spcAft>
              <a:defRPr sz="3200" b="1">
                <a:solidFill>
                  <a:srgbClr val="0F172A"/>
                </a:solidFill>
                <a:latin typeface="Georgia"/>
              </a:defRPr>
            </a:pPr>
            <a:r>
              <a:t>03</a:t>
            </a:r>
          </a:p>
          <a:p>
            <a:pPr>
              <a:spcAft>
                <a:spcPts val="800"/>
              </a:spcAft>
              <a:defRPr sz="1600" b="1">
                <a:solidFill>
                  <a:srgbClr val="0F172A"/>
                </a:solidFill>
                <a:latin typeface="Arial"/>
              </a:defRPr>
            </a:pPr>
            <a:r>
              <a:t>Quản trị đa năng</a:t>
            </a:r>
          </a:p>
          <a:p>
            <a:pPr>
              <a:defRPr sz="1300">
                <a:solidFill>
                  <a:srgbClr val="1E293B"/>
                </a:solidFill>
                <a:latin typeface="Arial"/>
              </a:defRPr>
            </a:pPr>
            <a:r>
              <a:t>Cung cấp giao diện trực quan cho Admin và Nhân viên để quản lý đặt sân, duyệt thanh toán, xem báo cáo doanh thu nhanh chóng.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BFBFA"/>
        </a:solidFill>
        <a:effectLst/>
      </p:bgPr>
    </p:bg>
    <p:spTree>
      <p:nvGrpSpPr>
        <p:cNvPr id="1" name=""/>
        <p:cNvGrpSpPr/>
        <p:nvPr/>
      </p:nvGrpSpPr>
      <p:grpSpPr>
        <a:xfrm>
          <a:off x="0" y="0"/>
          <a:ext cx="0" cy="0"/>
          <a:chOff x="0" y="0"/>
          <a:chExt cx="0" cy="0"/>
        </a:xfrm>
      </p:grpSpPr>
      <p:sp>
        <p:nvSpPr>
          <p:cNvPr id="2" name="TextBox 1"/>
          <p:cNvSpPr txBox="1"/>
          <p:nvPr/>
        </p:nvSpPr>
        <p:spPr>
          <a:xfrm>
            <a:off x="685800" y="457200"/>
            <a:ext cx="10820095" cy="914400"/>
          </a:xfrm>
          <a:prstGeom prst="rect">
            <a:avLst/>
          </a:prstGeom>
          <a:noFill/>
        </p:spPr>
        <p:txBody>
          <a:bodyPr wrap="square" lIns="0" tIns="0" rIns="0" bIns="0">
            <a:spAutoFit/>
          </a:bodyPr>
          <a:lstStyle/>
          <a:p>
            <a:pPr>
              <a:defRPr sz="2800" b="1">
                <a:solidFill>
                  <a:srgbClr val="0F172A"/>
                </a:solidFill>
                <a:latin typeface="Georgia"/>
              </a:defRPr>
            </a:pPr>
            <a:r>
              <a:t>Phạm vi &amp; Đối tượng sử dụng</a:t>
            </a:r>
          </a:p>
        </p:txBody>
      </p:sp>
      <p:sp>
        <p:nvSpPr>
          <p:cNvPr id="3" name="Rectangle 2"/>
          <p:cNvSpPr/>
          <p:nvPr/>
        </p:nvSpPr>
        <p:spPr>
          <a:xfrm>
            <a:off x="685800" y="1188720"/>
            <a:ext cx="10820095" cy="2540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645920"/>
            <a:ext cx="5120640" cy="3272691"/>
          </a:xfrm>
          <a:prstGeom prst="rect">
            <a:avLst/>
          </a:prstGeom>
          <a:noFill/>
        </p:spPr>
        <p:txBody>
          <a:bodyPr wrap="square" tIns="91440" bIns="91440">
            <a:spAutoFit/>
          </a:bodyPr>
          <a:lstStyle/>
          <a:p>
            <a:pPr>
              <a:spcAft>
                <a:spcPts val="600"/>
              </a:spcAft>
              <a:defRPr sz="1600" b="1">
                <a:solidFill>
                  <a:srgbClr val="059669"/>
                </a:solidFill>
                <a:latin typeface="Arial"/>
              </a:defRPr>
            </a:pPr>
            <a:r>
              <a:t>✓ PHẠM VI TRONG ĐỀ TÀI</a:t>
            </a:r>
          </a:p>
          <a:p>
            <a:pPr>
              <a:spcAft>
                <a:spcPts val="400"/>
              </a:spcAft>
              <a:defRPr sz="1300">
                <a:solidFill>
                  <a:srgbClr val="1E293B"/>
                </a:solidFill>
                <a:latin typeface="Arial"/>
              </a:defRPr>
            </a:pPr>
            <a:r>
              <a:t>• Quản lý loại sân &amp; sân thể thao chi tiết.</a:t>
            </a:r>
          </a:p>
          <a:p>
            <a:pPr>
              <a:spcAft>
                <a:spcPts val="400"/>
              </a:spcAft>
              <a:defRPr sz="1300">
                <a:solidFill>
                  <a:srgbClr val="1E293B"/>
                </a:solidFill>
                <a:latin typeface="Arial"/>
              </a:defRPr>
            </a:pPr>
            <a:r>
              <a:t>• Đặt sân trực tuyến, kiểm tra trùng lịch thông minh.</a:t>
            </a:r>
          </a:p>
          <a:p>
            <a:pPr>
              <a:spcAft>
                <a:spcPts val="400"/>
              </a:spcAft>
              <a:defRPr sz="1300">
                <a:solidFill>
                  <a:srgbClr val="1E293B"/>
                </a:solidFill>
                <a:latin typeface="Arial"/>
              </a:defRPr>
            </a:pPr>
            <a:r>
              <a:t>• Thanh toán qua chuyển khoản (tải ảnh) &amp; tiền mặt.</a:t>
            </a:r>
          </a:p>
          <a:p>
            <a:pPr>
              <a:spcAft>
                <a:spcPts val="400"/>
              </a:spcAft>
              <a:defRPr sz="1300">
                <a:solidFill>
                  <a:srgbClr val="1E293B"/>
                </a:solidFill>
                <a:latin typeface="Arial"/>
              </a:defRPr>
            </a:pPr>
            <a:r>
              <a:t>• Quản lý phân quyền 3 vai trò người dùng chặt chẽ.</a:t>
            </a:r>
          </a:p>
          <a:p>
            <a:pPr>
              <a:spcAft>
                <a:spcPts val="400"/>
              </a:spcAft>
              <a:defRPr sz="1300">
                <a:solidFill>
                  <a:srgbClr val="1E293B"/>
                </a:solidFill>
                <a:latin typeface="Arial"/>
              </a:defRPr>
            </a:pPr>
            <a:r>
              <a:t>• Báo cáo thống kê doanh thu trực quan theo thời gian.</a:t>
            </a:r>
          </a:p>
          <a:p>
            <a:br/>
            <a:r>
              <a:t>✗ NGOÀI PHẠM VI ĐỀ TÀI</a:t>
            </a:r>
          </a:p>
          <a:p>
            <a:pPr>
              <a:spcAft>
                <a:spcPts val="400"/>
              </a:spcAft>
              <a:defRPr sz="1300">
                <a:solidFill>
                  <a:srgbClr val="1E293B"/>
                </a:solidFill>
                <a:latin typeface="Arial"/>
              </a:defRPr>
            </a:pPr>
            <a:r>
              <a:t>• Tích hợp cổng thanh toán trực tiếp (VNPay).</a:t>
            </a:r>
          </a:p>
          <a:p>
            <a:pPr>
              <a:spcAft>
                <a:spcPts val="400"/>
              </a:spcAft>
              <a:defRPr sz="1300">
                <a:solidFill>
                  <a:srgbClr val="1E293B"/>
                </a:solidFill>
                <a:latin typeface="Arial"/>
              </a:defRPr>
            </a:pPr>
            <a:r>
              <a:t>• Ứng dụng di động (Mobile App) gốc.</a:t>
            </a:r>
          </a:p>
          <a:p>
            <a:pPr>
              <a:spcAft>
                <a:spcPts val="400"/>
              </a:spcAft>
              <a:defRPr sz="1300">
                <a:solidFill>
                  <a:srgbClr val="1E293B"/>
                </a:solidFill>
                <a:latin typeface="Arial"/>
              </a:defRPr>
            </a:pPr>
            <a:r>
              <a:t>• Gửi thông báo tự động SMS/Email.</a:t>
            </a:r>
          </a:p>
          <a:p>
            <a:pPr>
              <a:spcAft>
                <a:spcPts val="400"/>
              </a:spcAft>
              <a:defRPr sz="1300">
                <a:solidFill>
                  <a:srgbClr val="1E293B"/>
                </a:solidFill>
                <a:latin typeface="Arial"/>
              </a:defRPr>
            </a:pPr>
            <a:r>
              <a:t>• Đánh giá, bình luận (Review) sân thể thao.</a:t>
            </a:r>
          </a:p>
        </p:txBody>
      </p:sp>
      <p:sp>
        <p:nvSpPr>
          <p:cNvPr id="5" name="TextBox 4"/>
          <p:cNvSpPr txBox="1"/>
          <p:nvPr/>
        </p:nvSpPr>
        <p:spPr>
          <a:xfrm>
            <a:off x="6217920" y="1645920"/>
            <a:ext cx="5303520" cy="4389120"/>
          </a:xfrm>
          <a:prstGeom prst="rect">
            <a:avLst/>
          </a:prstGeom>
          <a:noFill/>
        </p:spPr>
        <p:txBody>
          <a:bodyPr wrap="square" tIns="91440" bIns="91440">
            <a:spAutoFit/>
          </a:bodyPr>
          <a:lstStyle/>
          <a:p>
            <a:pPr>
              <a:spcAft>
                <a:spcPts val="1200"/>
              </a:spcAft>
              <a:defRPr sz="1600" b="1">
                <a:solidFill>
                  <a:srgbClr val="0284C7"/>
                </a:solidFill>
                <a:latin typeface="Arial"/>
              </a:defRPr>
            </a:pPr>
            <a:r>
              <a:t>👥 ĐỐI TƯỢNG SỬ DỤNG (ACTORS)</a:t>
            </a:r>
          </a:p>
          <a:p>
            <a:pPr>
              <a:spcAft>
                <a:spcPts val="200"/>
              </a:spcAft>
              <a:defRPr sz="1400" b="1">
                <a:solidFill>
                  <a:srgbClr val="0F172A"/>
                </a:solidFill>
                <a:latin typeface="Arial"/>
              </a:defRPr>
            </a:pPr>
            <a:r>
              <a:t>▶ Customer (Khách hàng)</a:t>
            </a:r>
          </a:p>
          <a:p>
            <a:pPr>
              <a:spcAft>
                <a:spcPts val="1000"/>
              </a:spcAft>
              <a:defRPr sz="1200">
                <a:solidFill>
                  <a:srgbClr val="1E293B"/>
                </a:solidFill>
                <a:latin typeface="Arial"/>
              </a:defRPr>
            </a:pPr>
            <a:r>
              <a:t>Đăng ký tài khoản, xem sân, tra cứu giờ trống trực quan, tạo booking đặt sân, tải ảnh thanh toán chuyển khoản, xem lịch sử cá nhân.</a:t>
            </a:r>
          </a:p>
          <a:p>
            <a:pPr>
              <a:spcAft>
                <a:spcPts val="200"/>
              </a:spcAft>
              <a:defRPr sz="1400" b="1">
                <a:solidFill>
                  <a:srgbClr val="0F172A"/>
                </a:solidFill>
                <a:latin typeface="Arial"/>
              </a:defRPr>
            </a:pPr>
            <a:r>
              <a:t>▶ Staff (Nhân viên quầy)</a:t>
            </a:r>
          </a:p>
          <a:p>
            <a:pPr>
              <a:spcAft>
                <a:spcPts val="1000"/>
              </a:spcAft>
              <a:defRPr sz="1200">
                <a:solidFill>
                  <a:srgbClr val="1E293B"/>
                </a:solidFill>
                <a:latin typeface="Arial"/>
              </a:defRPr>
            </a:pPr>
            <a:r>
              <a:t>Được Admin cấp tài khoản. Quản lý lịch đặt, cập nhật trạng thái sân, duyệt ảnh thanh toán, hỗ trợ tạo đặt sân trực tiếp tại quầy.</a:t>
            </a:r>
          </a:p>
          <a:p>
            <a:pPr>
              <a:spcAft>
                <a:spcPts val="200"/>
              </a:spcAft>
              <a:defRPr sz="1400" b="1">
                <a:solidFill>
                  <a:srgbClr val="0F172A"/>
                </a:solidFill>
                <a:latin typeface="Arial"/>
              </a:defRPr>
            </a:pPr>
            <a:r>
              <a:t>▶ Admin (Quản trị viên)</a:t>
            </a:r>
          </a:p>
          <a:p>
            <a:pPr>
              <a:spcAft>
                <a:spcPts val="1000"/>
              </a:spcAft>
              <a:defRPr sz="1200">
                <a:solidFill>
                  <a:srgbClr val="1E293B"/>
                </a:solidFill>
                <a:latin typeface="Arial"/>
              </a:defRPr>
            </a:pPr>
            <a:r>
              <a:t>Quản lý toàn diện hệ thống, phân quyền nhân viên, có quyền xóa/sửa dữ liệu nhạy cảm, trích xuất báo cáo doanh thu theo khoảng thời gian.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BFBFA"/>
        </a:solidFill>
        <a:effectLst/>
      </p:bgPr>
    </p:bg>
    <p:spTree>
      <p:nvGrpSpPr>
        <p:cNvPr id="1" name=""/>
        <p:cNvGrpSpPr/>
        <p:nvPr/>
      </p:nvGrpSpPr>
      <p:grpSpPr>
        <a:xfrm>
          <a:off x="0" y="0"/>
          <a:ext cx="0" cy="0"/>
          <a:chOff x="0" y="0"/>
          <a:chExt cx="0" cy="0"/>
        </a:xfrm>
      </p:grpSpPr>
      <p:sp>
        <p:nvSpPr>
          <p:cNvPr id="2" name="TextBox 1"/>
          <p:cNvSpPr txBox="1"/>
          <p:nvPr/>
        </p:nvSpPr>
        <p:spPr>
          <a:xfrm>
            <a:off x="685800" y="457200"/>
            <a:ext cx="10820095" cy="914400"/>
          </a:xfrm>
          <a:prstGeom prst="rect">
            <a:avLst/>
          </a:prstGeom>
          <a:noFill/>
        </p:spPr>
        <p:txBody>
          <a:bodyPr wrap="square" lIns="0" tIns="0" rIns="0" bIns="0">
            <a:spAutoFit/>
          </a:bodyPr>
          <a:lstStyle/>
          <a:p>
            <a:pPr>
              <a:defRPr sz="2800" b="1">
                <a:solidFill>
                  <a:srgbClr val="0F172A"/>
                </a:solidFill>
                <a:latin typeface="Georgia"/>
              </a:defRPr>
            </a:pPr>
            <a:r>
              <a:t>Công nghệ sử dụng</a:t>
            </a:r>
          </a:p>
        </p:txBody>
      </p:sp>
      <p:sp>
        <p:nvSpPr>
          <p:cNvPr id="3" name="Rectangle 2"/>
          <p:cNvSpPr/>
          <p:nvPr/>
        </p:nvSpPr>
        <p:spPr>
          <a:xfrm>
            <a:off x="685800" y="1188720"/>
            <a:ext cx="10820095" cy="2540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463040"/>
            <a:ext cx="10820095" cy="731520"/>
          </a:xfrm>
          <a:prstGeom prst="rect">
            <a:avLst/>
          </a:prstGeom>
          <a:noFill/>
        </p:spPr>
        <p:txBody>
          <a:bodyPr wrap="square" tIns="91440" bIns="91440">
            <a:spAutoFit/>
          </a:bodyPr>
          <a:lstStyle/>
          <a:p>
            <a:pPr>
              <a:defRPr sz="1800" b="1">
                <a:solidFill>
                  <a:srgbClr val="059669"/>
                </a:solidFill>
                <a:latin typeface="Georgia"/>
              </a:defRPr>
            </a:pPr>
            <a:r>
              <a:t>Hệ sinh thái công nghệ hiện đại, đồng bộ và đóng gói hoàn chỉnh</a:t>
            </a:r>
          </a:p>
        </p:txBody>
      </p:sp>
      <p:sp>
        <p:nvSpPr>
          <p:cNvPr id="5" name="Rounded Rectangle 4"/>
          <p:cNvSpPr/>
          <p:nvPr/>
        </p:nvSpPr>
        <p:spPr>
          <a:xfrm>
            <a:off x="685800" y="2194560"/>
            <a:ext cx="1920240" cy="1828800"/>
          </a:xfrm>
          <a:prstGeom prst="roundRect">
            <a:avLst/>
          </a:prstGeom>
          <a:solidFill>
            <a:srgbClr val="F1F5F9"/>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spcAft>
                <a:spcPts val="600"/>
              </a:spcAft>
              <a:defRPr sz="1400" b="1">
                <a:solidFill>
                  <a:srgbClr val="0F172A"/>
                </a:solidFill>
                <a:latin typeface="Arial"/>
              </a:defRPr>
            </a:pPr>
            <a:r>
              <a:t>React </a:t>
            </a:r>
            <a:r>
              <a:rPr lang="vi-VN"/>
              <a:t>UI</a:t>
            </a:r>
            <a:r>
              <a:t> + Vite</a:t>
            </a:r>
          </a:p>
          <a:p>
            <a:pPr algn="ctr">
              <a:defRPr sz="1100">
                <a:solidFill>
                  <a:srgbClr val="64748B"/>
                </a:solidFill>
                <a:latin typeface="Arial"/>
              </a:defRPr>
            </a:pPr>
            <a:r>
              <a:t>Frontend Single Page App</a:t>
            </a:r>
          </a:p>
        </p:txBody>
      </p:sp>
      <p:sp>
        <p:nvSpPr>
          <p:cNvPr id="6" name="Rounded Rectangle 5"/>
          <p:cNvSpPr/>
          <p:nvPr/>
        </p:nvSpPr>
        <p:spPr>
          <a:xfrm>
            <a:off x="2880360" y="2194560"/>
            <a:ext cx="1920240" cy="1828800"/>
          </a:xfrm>
          <a:prstGeom prst="roundRect">
            <a:avLst/>
          </a:prstGeom>
          <a:solidFill>
            <a:srgbClr val="F1F5F9"/>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spcAft>
                <a:spcPts val="600"/>
              </a:spcAft>
              <a:defRPr sz="1400" b="1">
                <a:solidFill>
                  <a:srgbClr val="0F172A"/>
                </a:solidFill>
                <a:latin typeface="Arial"/>
              </a:defRPr>
            </a:pPr>
            <a:r>
              <a:t>NodeJS + Express 5</a:t>
            </a:r>
          </a:p>
          <a:p>
            <a:pPr algn="ctr">
              <a:defRPr sz="1100">
                <a:solidFill>
                  <a:srgbClr val="64748B"/>
                </a:solidFill>
                <a:latin typeface="Arial"/>
              </a:defRPr>
            </a:pPr>
            <a:r>
              <a:t>RESTful API Server</a:t>
            </a:r>
          </a:p>
        </p:txBody>
      </p:sp>
      <p:sp>
        <p:nvSpPr>
          <p:cNvPr id="7" name="Rounded Rectangle 6"/>
          <p:cNvSpPr/>
          <p:nvPr/>
        </p:nvSpPr>
        <p:spPr>
          <a:xfrm>
            <a:off x="5074920" y="2194560"/>
            <a:ext cx="1920240" cy="1828800"/>
          </a:xfrm>
          <a:prstGeom prst="roundRect">
            <a:avLst/>
          </a:prstGeom>
          <a:solidFill>
            <a:srgbClr val="F1F5F9"/>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spcAft>
                <a:spcPts val="600"/>
              </a:spcAft>
              <a:defRPr sz="1400" b="1">
                <a:solidFill>
                  <a:srgbClr val="0F172A"/>
                </a:solidFill>
                <a:latin typeface="Arial"/>
              </a:defRPr>
            </a:pPr>
            <a:r>
              <a:t>MongoDB + Mongoose</a:t>
            </a:r>
          </a:p>
          <a:p>
            <a:pPr algn="ctr">
              <a:defRPr sz="1100">
                <a:solidFill>
                  <a:srgbClr val="64748B"/>
                </a:solidFill>
                <a:latin typeface="Arial"/>
              </a:defRPr>
            </a:pPr>
            <a:r>
              <a:t>NoSQL Database &amp; Object Modeling</a:t>
            </a:r>
          </a:p>
        </p:txBody>
      </p:sp>
      <p:sp>
        <p:nvSpPr>
          <p:cNvPr id="8" name="Rounded Rectangle 7"/>
          <p:cNvSpPr/>
          <p:nvPr/>
        </p:nvSpPr>
        <p:spPr>
          <a:xfrm>
            <a:off x="7269480" y="2194560"/>
            <a:ext cx="1920240" cy="1828800"/>
          </a:xfrm>
          <a:prstGeom prst="roundRect">
            <a:avLst/>
          </a:prstGeom>
          <a:solidFill>
            <a:srgbClr val="F1F5F9"/>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spcAft>
                <a:spcPts val="600"/>
              </a:spcAft>
              <a:defRPr sz="1400" b="1">
                <a:solidFill>
                  <a:srgbClr val="0F172A"/>
                </a:solidFill>
                <a:latin typeface="Arial"/>
              </a:defRPr>
            </a:pPr>
            <a:r>
              <a:t>JWT + Bcrypt</a:t>
            </a:r>
          </a:p>
          <a:p>
            <a:pPr algn="ctr">
              <a:defRPr sz="1100">
                <a:solidFill>
                  <a:srgbClr val="64748B"/>
                </a:solidFill>
                <a:latin typeface="Arial"/>
              </a:defRPr>
            </a:pPr>
            <a:r>
              <a:t>Xác thực &amp; Mã hóa bảo mật</a:t>
            </a:r>
          </a:p>
        </p:txBody>
      </p:sp>
      <p:sp>
        <p:nvSpPr>
          <p:cNvPr id="9" name="Rounded Rectangle 8"/>
          <p:cNvSpPr/>
          <p:nvPr/>
        </p:nvSpPr>
        <p:spPr>
          <a:xfrm>
            <a:off x="9464040" y="2194560"/>
            <a:ext cx="1920240" cy="1828800"/>
          </a:xfrm>
          <a:prstGeom prst="roundRect">
            <a:avLst/>
          </a:prstGeom>
          <a:solidFill>
            <a:srgbClr val="F1F5F9"/>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spcAft>
                <a:spcPts val="600"/>
              </a:spcAft>
              <a:defRPr sz="1400" b="1">
                <a:solidFill>
                  <a:srgbClr val="0F172A"/>
                </a:solidFill>
                <a:latin typeface="Arial"/>
              </a:defRPr>
            </a:pPr>
            <a:r>
              <a:t>Bootstrap 5</a:t>
            </a:r>
          </a:p>
          <a:p>
            <a:pPr algn="ctr">
              <a:defRPr sz="1100">
                <a:solidFill>
                  <a:srgbClr val="64748B"/>
                </a:solidFill>
                <a:latin typeface="Arial"/>
              </a:defRPr>
            </a:pPr>
            <a:r>
              <a:t>Giao diện Responsive linh hoạt</a:t>
            </a:r>
          </a:p>
        </p:txBody>
      </p:sp>
      <p:sp>
        <p:nvSpPr>
          <p:cNvPr id="10" name="Rounded Rectangle 9"/>
          <p:cNvSpPr/>
          <p:nvPr/>
        </p:nvSpPr>
        <p:spPr>
          <a:xfrm>
            <a:off x="685800" y="4297680"/>
            <a:ext cx="1920240" cy="1828800"/>
          </a:xfrm>
          <a:prstGeom prst="roundRect">
            <a:avLst/>
          </a:prstGeom>
          <a:solidFill>
            <a:srgbClr val="F1F5F9"/>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spcAft>
                <a:spcPts val="600"/>
              </a:spcAft>
              <a:defRPr sz="1400" b="1">
                <a:solidFill>
                  <a:srgbClr val="0F172A"/>
                </a:solidFill>
                <a:latin typeface="Arial"/>
              </a:defRPr>
            </a:pPr>
            <a:r>
              <a:t>Axios</a:t>
            </a:r>
          </a:p>
          <a:p>
            <a:pPr algn="ctr">
              <a:defRPr sz="1100">
                <a:solidFill>
                  <a:srgbClr val="64748B"/>
                </a:solidFill>
                <a:latin typeface="Arial"/>
              </a:defRPr>
            </a:pPr>
            <a:r>
              <a:t>Kết nối API với Interceptors</a:t>
            </a:r>
          </a:p>
        </p:txBody>
      </p:sp>
      <p:sp>
        <p:nvSpPr>
          <p:cNvPr id="11" name="Rounded Rectangle 10"/>
          <p:cNvSpPr/>
          <p:nvPr/>
        </p:nvSpPr>
        <p:spPr>
          <a:xfrm>
            <a:off x="2880360" y="4297680"/>
            <a:ext cx="1920240" cy="1828800"/>
          </a:xfrm>
          <a:prstGeom prst="roundRect">
            <a:avLst/>
          </a:prstGeom>
          <a:solidFill>
            <a:srgbClr val="F1F5F9"/>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spcAft>
                <a:spcPts val="600"/>
              </a:spcAft>
              <a:defRPr sz="1400" b="1">
                <a:solidFill>
                  <a:srgbClr val="0F172A"/>
                </a:solidFill>
                <a:latin typeface="Arial"/>
              </a:defRPr>
            </a:pPr>
            <a:r>
              <a:t>Docker + Compose</a:t>
            </a:r>
          </a:p>
          <a:p>
            <a:pPr algn="ctr">
              <a:defRPr sz="1100">
                <a:solidFill>
                  <a:srgbClr val="64748B"/>
                </a:solidFill>
                <a:latin typeface="Arial"/>
              </a:defRPr>
            </a:pPr>
            <a:r>
              <a:t>Đóng gói đồng nhất môi trường</a:t>
            </a:r>
          </a:p>
        </p:txBody>
      </p:sp>
      <p:sp>
        <p:nvSpPr>
          <p:cNvPr id="12" name="Rounded Rectangle 11"/>
          <p:cNvSpPr/>
          <p:nvPr/>
        </p:nvSpPr>
        <p:spPr>
          <a:xfrm>
            <a:off x="5074920" y="4297680"/>
            <a:ext cx="1920240" cy="1828800"/>
          </a:xfrm>
          <a:prstGeom prst="roundRect">
            <a:avLst/>
          </a:prstGeom>
          <a:solidFill>
            <a:srgbClr val="F1F5F9"/>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spcAft>
                <a:spcPts val="600"/>
              </a:spcAft>
              <a:defRPr sz="1400" b="1">
                <a:solidFill>
                  <a:srgbClr val="0F172A"/>
                </a:solidFill>
                <a:latin typeface="Arial"/>
              </a:defRPr>
            </a:pPr>
            <a:r>
              <a:t>Jira</a:t>
            </a:r>
          </a:p>
          <a:p>
            <a:pPr algn="ctr">
              <a:defRPr sz="1100">
                <a:solidFill>
                  <a:srgbClr val="64748B"/>
                </a:solidFill>
                <a:latin typeface="Arial"/>
              </a:defRPr>
            </a:pPr>
            <a:r>
              <a:t>Quản lý dự án Agile/Scrum</a:t>
            </a:r>
          </a:p>
        </p:txBody>
      </p:sp>
      <p:sp>
        <p:nvSpPr>
          <p:cNvPr id="13" name="Rounded Rectangle 12"/>
          <p:cNvSpPr/>
          <p:nvPr/>
        </p:nvSpPr>
        <p:spPr>
          <a:xfrm>
            <a:off x="7269480" y="4297680"/>
            <a:ext cx="1920240" cy="1828800"/>
          </a:xfrm>
          <a:prstGeom prst="roundRect">
            <a:avLst/>
          </a:prstGeom>
          <a:solidFill>
            <a:srgbClr val="F1F5F9"/>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spcAft>
                <a:spcPts val="600"/>
              </a:spcAft>
              <a:defRPr sz="1400" b="1">
                <a:solidFill>
                  <a:srgbClr val="0F172A"/>
                </a:solidFill>
                <a:latin typeface="Arial"/>
              </a:defRPr>
            </a:pPr>
            <a:r>
              <a:t>Git / GitHub</a:t>
            </a:r>
          </a:p>
          <a:p>
            <a:pPr algn="ctr">
              <a:defRPr sz="1100">
                <a:solidFill>
                  <a:srgbClr val="64748B"/>
                </a:solidFill>
                <a:latin typeface="Arial"/>
              </a:defRPr>
            </a:pPr>
            <a:r>
              <a:t>Quản lý phiên bản mã nguồn</a:t>
            </a:r>
          </a:p>
        </p:txBody>
      </p:sp>
      <p:sp>
        <p:nvSpPr>
          <p:cNvPr id="14" name="Rounded Rectangle 13"/>
          <p:cNvSpPr/>
          <p:nvPr/>
        </p:nvSpPr>
        <p:spPr>
          <a:xfrm>
            <a:off x="9464040" y="4297680"/>
            <a:ext cx="1920240" cy="1828800"/>
          </a:xfrm>
          <a:prstGeom prst="roundRect">
            <a:avLst/>
          </a:prstGeom>
          <a:solidFill>
            <a:srgbClr val="F1F5F9"/>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spcAft>
                <a:spcPts val="600"/>
              </a:spcAft>
              <a:defRPr sz="1400" b="1">
                <a:solidFill>
                  <a:srgbClr val="0F172A"/>
                </a:solidFill>
                <a:latin typeface="Arial"/>
              </a:defRPr>
            </a:pPr>
            <a:r>
              <a:t>Swagger</a:t>
            </a:r>
          </a:p>
          <a:p>
            <a:pPr algn="ctr">
              <a:defRPr sz="1100">
                <a:solidFill>
                  <a:srgbClr val="64748B"/>
                </a:solidFill>
                <a:latin typeface="Arial"/>
              </a:defRPr>
            </a:pPr>
            <a:r>
              <a:t>Tài liệu hóa API trực quan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BFBFA"/>
        </a:solidFill>
        <a:effectLst/>
      </p:bgPr>
    </p:bg>
    <p:spTree>
      <p:nvGrpSpPr>
        <p:cNvPr id="1" name=""/>
        <p:cNvGrpSpPr/>
        <p:nvPr/>
      </p:nvGrpSpPr>
      <p:grpSpPr>
        <a:xfrm>
          <a:off x="0" y="0"/>
          <a:ext cx="0" cy="0"/>
          <a:chOff x="0" y="0"/>
          <a:chExt cx="0" cy="0"/>
        </a:xfrm>
      </p:grpSpPr>
      <p:sp>
        <p:nvSpPr>
          <p:cNvPr id="2" name="TextBox 1"/>
          <p:cNvSpPr txBox="1"/>
          <p:nvPr/>
        </p:nvSpPr>
        <p:spPr>
          <a:xfrm>
            <a:off x="685800" y="457200"/>
            <a:ext cx="10820095" cy="914400"/>
          </a:xfrm>
          <a:prstGeom prst="rect">
            <a:avLst/>
          </a:prstGeom>
          <a:noFill/>
        </p:spPr>
        <p:txBody>
          <a:bodyPr wrap="square" lIns="0" tIns="0" rIns="0" bIns="0">
            <a:spAutoFit/>
          </a:bodyPr>
          <a:lstStyle/>
          <a:p>
            <a:pPr>
              <a:defRPr sz="2800" b="1">
                <a:solidFill>
                  <a:srgbClr val="0F172A"/>
                </a:solidFill>
                <a:latin typeface="Georgia"/>
              </a:defRPr>
            </a:pPr>
            <a:r>
              <a:t>Kiến trúc hệ thống</a:t>
            </a:r>
          </a:p>
        </p:txBody>
      </p:sp>
      <p:sp>
        <p:nvSpPr>
          <p:cNvPr id="3" name="Rectangle 2"/>
          <p:cNvSpPr/>
          <p:nvPr/>
        </p:nvSpPr>
        <p:spPr>
          <a:xfrm>
            <a:off x="685800" y="1188720"/>
            <a:ext cx="10820095" cy="2540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645920"/>
            <a:ext cx="4572000" cy="4389120"/>
          </a:xfrm>
          <a:prstGeom prst="rect">
            <a:avLst/>
          </a:prstGeom>
          <a:noFill/>
        </p:spPr>
        <p:txBody>
          <a:bodyPr wrap="square" tIns="91440" bIns="91440">
            <a:spAutoFit/>
          </a:bodyPr>
          <a:lstStyle/>
          <a:p>
            <a:pPr>
              <a:spcAft>
                <a:spcPts val="1200"/>
              </a:spcAft>
              <a:defRPr sz="2000" b="1">
                <a:solidFill>
                  <a:srgbClr val="059669"/>
                </a:solidFill>
                <a:latin typeface="Georgia"/>
              </a:defRPr>
            </a:pPr>
            <a:r>
              <a:t>Mô hình Client - Server tách biệt</a:t>
            </a:r>
          </a:p>
          <a:p>
            <a:pPr>
              <a:spcAft>
                <a:spcPts val="200"/>
              </a:spcAft>
              <a:defRPr sz="1400" b="1">
                <a:solidFill>
                  <a:srgbClr val="0F172A"/>
                </a:solidFill>
                <a:latin typeface="Arial"/>
              </a:defRPr>
            </a:pPr>
            <a:r>
              <a:t>• Phát triển độc lập</a:t>
            </a:r>
          </a:p>
          <a:p>
            <a:pPr>
              <a:spcAft>
                <a:spcPts val="800"/>
              </a:spcAft>
              <a:defRPr sz="1200">
                <a:solidFill>
                  <a:srgbClr val="1E293B"/>
                </a:solidFill>
                <a:latin typeface="Arial"/>
              </a:defRPr>
            </a:pPr>
            <a:r>
              <a:t>Frontend và Backend giao tiếp hoàn toàn qua các yêu cầu RESTful HTTP REST API, trao đổi dữ liệu dạng JSON.</a:t>
            </a:r>
          </a:p>
          <a:p>
            <a:pPr>
              <a:spcAft>
                <a:spcPts val="200"/>
              </a:spcAft>
              <a:defRPr sz="1400" b="1">
                <a:solidFill>
                  <a:srgbClr val="0F172A"/>
                </a:solidFill>
                <a:latin typeface="Arial"/>
              </a:defRPr>
            </a:pPr>
            <a:r>
              <a:t>• Tầng Backend phân lớp</a:t>
            </a:r>
          </a:p>
          <a:p>
            <a:pPr>
              <a:spcAft>
                <a:spcPts val="800"/>
              </a:spcAft>
              <a:defRPr sz="1200">
                <a:solidFill>
                  <a:srgbClr val="1E293B"/>
                </a:solidFill>
                <a:latin typeface="Arial"/>
              </a:defRPr>
            </a:pPr>
            <a:r>
              <a:t>Tổ chức logic chặt chẽ: Routes (nhận request) → Middlewares (xác thực/kiểm thử) → Controllers (điều hướng) → Services (logic nghiệp vụ) → Models (truy vấn database).</a:t>
            </a:r>
          </a:p>
          <a:p>
            <a:pPr>
              <a:spcAft>
                <a:spcPts val="200"/>
              </a:spcAft>
              <a:defRPr sz="1400" b="1">
                <a:solidFill>
                  <a:srgbClr val="0F172A"/>
                </a:solidFill>
                <a:latin typeface="Arial"/>
              </a:defRPr>
            </a:pPr>
            <a:r>
              <a:t>• Bảo mật phân quyền</a:t>
            </a:r>
          </a:p>
          <a:p>
            <a:pPr>
              <a:spcAft>
                <a:spcPts val="800"/>
              </a:spcAft>
              <a:defRPr sz="1200">
                <a:solidFill>
                  <a:srgbClr val="1E293B"/>
                </a:solidFill>
                <a:latin typeface="Arial"/>
              </a:defRPr>
            </a:pPr>
            <a:r>
              <a:t>Tất cả các API nhạy cảm được bảo vệ bởi lớp kiểm tra Bearer Token JWT và phân quyền theo vai trò RBAC trước khi truy cập tầng nghiệp vụ.</a:t>
            </a:r>
          </a:p>
        </p:txBody>
      </p:sp>
      <p:sp>
        <p:nvSpPr>
          <p:cNvPr id="5" name="Rounded Rectangle 4"/>
          <p:cNvSpPr/>
          <p:nvPr/>
        </p:nvSpPr>
        <p:spPr>
          <a:xfrm>
            <a:off x="5943600" y="1645920"/>
            <a:ext cx="5486400" cy="914400"/>
          </a:xfrm>
          <a:prstGeom prst="roundRect">
            <a:avLst/>
          </a:prstGeom>
          <a:solidFill>
            <a:srgbClr val="F1F5F9"/>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defRPr sz="1400" b="1">
                <a:solidFill>
                  <a:srgbClr val="0284C7"/>
                </a:solidFill>
                <a:latin typeface="Arial"/>
              </a:defRPr>
            </a:pPr>
            <a:r>
              <a:t>FRONTEND CLIENT (ReactJS SPA)</a:t>
            </a:r>
          </a:p>
          <a:p>
            <a:pPr algn="ctr">
              <a:defRPr sz="1100">
                <a:solidFill>
                  <a:srgbClr val="1E293B"/>
                </a:solidFill>
                <a:latin typeface="Arial"/>
              </a:defRPr>
            </a:pPr>
            <a:r>
              <a:t>Giao diện, Axios Interceptors, Validation</a:t>
            </a:r>
          </a:p>
        </p:txBody>
      </p:sp>
      <p:sp>
        <p:nvSpPr>
          <p:cNvPr id="6" name="TextBox 5"/>
          <p:cNvSpPr txBox="1"/>
          <p:nvPr/>
        </p:nvSpPr>
        <p:spPr>
          <a:xfrm>
            <a:off x="5943600" y="2743200"/>
            <a:ext cx="5486400" cy="365760"/>
          </a:xfrm>
          <a:prstGeom prst="rect">
            <a:avLst/>
          </a:prstGeom>
          <a:noFill/>
        </p:spPr>
        <p:txBody>
          <a:bodyPr wrap="none">
            <a:spAutoFit/>
          </a:bodyPr>
          <a:lstStyle/>
          <a:p>
            <a:pPr algn="ctr">
              <a:defRPr sz="1100" b="1">
                <a:solidFill>
                  <a:srgbClr val="64748B"/>
                </a:solidFill>
                <a:latin typeface="Arial"/>
              </a:defRPr>
            </a:pPr>
            <a:r>
              <a:t>↓ HTTP Request (JSON) / JWT Bearer Token</a:t>
            </a:r>
          </a:p>
        </p:txBody>
      </p:sp>
      <p:sp>
        <p:nvSpPr>
          <p:cNvPr id="7" name="Rounded Rectangle 6"/>
          <p:cNvSpPr/>
          <p:nvPr/>
        </p:nvSpPr>
        <p:spPr>
          <a:xfrm>
            <a:off x="5943600" y="3108960"/>
            <a:ext cx="5486400" cy="914400"/>
          </a:xfrm>
          <a:prstGeom prst="roundRect">
            <a:avLst/>
          </a:prstGeom>
          <a:solidFill>
            <a:srgbClr val="F1F5F9"/>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defRPr sz="1400" b="1">
                <a:solidFill>
                  <a:srgbClr val="059669"/>
                </a:solidFill>
                <a:latin typeface="Arial"/>
              </a:defRPr>
            </a:pPr>
            <a:r>
              <a:t>BACKEND REST API (NodeJS / Express)</a:t>
            </a:r>
          </a:p>
          <a:p>
            <a:pPr algn="ctr">
              <a:defRPr sz="1100">
                <a:solidFill>
                  <a:srgbClr val="1E293B"/>
                </a:solidFill>
                <a:latin typeface="Arial"/>
              </a:defRPr>
            </a:pPr>
            <a:r>
              <a:t>Routes -&gt; Middleware (JWT) -&gt; Controllers -&gt; Services -&gt; Models</a:t>
            </a:r>
          </a:p>
        </p:txBody>
      </p:sp>
      <p:sp>
        <p:nvSpPr>
          <p:cNvPr id="8" name="TextBox 7"/>
          <p:cNvSpPr txBox="1"/>
          <p:nvPr/>
        </p:nvSpPr>
        <p:spPr>
          <a:xfrm>
            <a:off x="5943600" y="4206240"/>
            <a:ext cx="5486400" cy="365760"/>
          </a:xfrm>
          <a:prstGeom prst="rect">
            <a:avLst/>
          </a:prstGeom>
          <a:noFill/>
        </p:spPr>
        <p:txBody>
          <a:bodyPr wrap="none">
            <a:spAutoFit/>
          </a:bodyPr>
          <a:lstStyle/>
          <a:p>
            <a:pPr algn="ctr">
              <a:defRPr sz="1100" b="1">
                <a:solidFill>
                  <a:srgbClr val="64748B"/>
                </a:solidFill>
                <a:latin typeface="Arial"/>
              </a:defRPr>
            </a:pPr>
            <a:r>
              <a:t>↓ Mongoose ODM (ObjectId References)</a:t>
            </a:r>
          </a:p>
        </p:txBody>
      </p:sp>
      <p:sp>
        <p:nvSpPr>
          <p:cNvPr id="9" name="Rounded Rectangle 8"/>
          <p:cNvSpPr/>
          <p:nvPr/>
        </p:nvSpPr>
        <p:spPr>
          <a:xfrm>
            <a:off x="5943600" y="4572000"/>
            <a:ext cx="5486400" cy="914400"/>
          </a:xfrm>
          <a:prstGeom prst="roundRect">
            <a:avLst/>
          </a:prstGeom>
          <a:solidFill>
            <a:srgbClr val="F1F5F9"/>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defRPr sz="1400" b="1">
                <a:solidFill>
                  <a:srgbClr val="0F172A"/>
                </a:solidFill>
                <a:latin typeface="Arial"/>
              </a:defRPr>
            </a:pPr>
            <a:r>
              <a:t>DATABASE LAYER (MongoDB)</a:t>
            </a:r>
          </a:p>
          <a:p>
            <a:pPr algn="ctr">
              <a:defRPr sz="1100">
                <a:solidFill>
                  <a:srgbClr val="1E293B"/>
                </a:solidFill>
                <a:latin typeface="Arial"/>
              </a:defRPr>
            </a:pPr>
            <a:r>
              <a:t>User, Field, FieldType, Booking, Payment, Report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BFBFA"/>
        </a:solidFill>
        <a:effectLst/>
      </p:bgPr>
    </p:bg>
    <p:spTree>
      <p:nvGrpSpPr>
        <p:cNvPr id="1" name=""/>
        <p:cNvGrpSpPr/>
        <p:nvPr/>
      </p:nvGrpSpPr>
      <p:grpSpPr>
        <a:xfrm>
          <a:off x="0" y="0"/>
          <a:ext cx="0" cy="0"/>
          <a:chOff x="0" y="0"/>
          <a:chExt cx="0" cy="0"/>
        </a:xfrm>
      </p:grpSpPr>
      <p:sp>
        <p:nvSpPr>
          <p:cNvPr id="2" name="TextBox 1"/>
          <p:cNvSpPr txBox="1"/>
          <p:nvPr/>
        </p:nvSpPr>
        <p:spPr>
          <a:xfrm>
            <a:off x="685800" y="457200"/>
            <a:ext cx="10820095" cy="914400"/>
          </a:xfrm>
          <a:prstGeom prst="rect">
            <a:avLst/>
          </a:prstGeom>
          <a:noFill/>
        </p:spPr>
        <p:txBody>
          <a:bodyPr wrap="square" lIns="0" tIns="0" rIns="0" bIns="0">
            <a:spAutoFit/>
          </a:bodyPr>
          <a:lstStyle/>
          <a:p>
            <a:pPr>
              <a:defRPr sz="2800" b="1">
                <a:solidFill>
                  <a:srgbClr val="0F172A"/>
                </a:solidFill>
                <a:latin typeface="Georgia"/>
              </a:defRPr>
            </a:pPr>
            <a:r>
              <a:t>Phân tích nhu cầu &amp; Persona</a:t>
            </a:r>
          </a:p>
        </p:txBody>
      </p:sp>
      <p:sp>
        <p:nvSpPr>
          <p:cNvPr id="3" name="Rectangle 2"/>
          <p:cNvSpPr/>
          <p:nvPr/>
        </p:nvSpPr>
        <p:spPr>
          <a:xfrm>
            <a:off x="685800" y="1188720"/>
            <a:ext cx="10820095" cy="2540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463040"/>
            <a:ext cx="10820095" cy="731520"/>
          </a:xfrm>
          <a:prstGeom prst="rect">
            <a:avLst/>
          </a:prstGeom>
          <a:noFill/>
        </p:spPr>
        <p:txBody>
          <a:bodyPr wrap="square" tIns="91440" bIns="91440">
            <a:spAutoFit/>
          </a:bodyPr>
          <a:lstStyle/>
          <a:p>
            <a:pPr>
              <a:defRPr sz="1800" b="1">
                <a:solidFill>
                  <a:srgbClr val="059669"/>
                </a:solidFill>
                <a:latin typeface="Georgia"/>
              </a:defRPr>
            </a:pPr>
            <a:r>
              <a:t>Xây dựng Hồ sơ người dùng (Personas) đặc trưng cho 3 đối tượng chính</a:t>
            </a:r>
          </a:p>
        </p:txBody>
      </p:sp>
      <p:sp>
        <p:nvSpPr>
          <p:cNvPr id="5" name="Rounded Rectangle 4"/>
          <p:cNvSpPr/>
          <p:nvPr/>
        </p:nvSpPr>
        <p:spPr>
          <a:xfrm>
            <a:off x="685800" y="2194560"/>
            <a:ext cx="3383280" cy="3931920"/>
          </a:xfrm>
          <a:prstGeom prst="roundRect">
            <a:avLst/>
          </a:prstGeom>
          <a:solidFill>
            <a:srgbClr val="F1F5F9"/>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spcAft>
                <a:spcPts val="600"/>
              </a:spcAft>
              <a:defRPr sz="1500" b="1">
                <a:solidFill>
                  <a:srgbClr val="0284C7"/>
                </a:solidFill>
                <a:latin typeface="Arial"/>
              </a:defRPr>
            </a:pPr>
            <a:r>
              <a:t>Anh Minh - Khách hàng</a:t>
            </a:r>
          </a:p>
          <a:p>
            <a:pPr>
              <a:spcAft>
                <a:spcPts val="400"/>
              </a:spcAft>
              <a:defRPr sz="1200" b="1">
                <a:solidFill>
                  <a:srgbClr val="1E293B"/>
                </a:solidFill>
                <a:latin typeface="Arial"/>
              </a:defRPr>
            </a:pPr>
            <a:r>
              <a:t>Nhu cầu:</a:t>
            </a:r>
          </a:p>
          <a:p>
            <a:pPr>
              <a:spcAft>
                <a:spcPts val="300"/>
              </a:spcAft>
              <a:defRPr sz="1100">
                <a:solidFill>
                  <a:srgbClr val="1E293B"/>
                </a:solidFill>
                <a:latin typeface="Arial"/>
              </a:defRPr>
            </a:pPr>
            <a:r>
              <a:t>• Tra cứu nhanh khung giờ trống của sân.</a:t>
            </a:r>
          </a:p>
          <a:p>
            <a:pPr>
              <a:spcAft>
                <a:spcPts val="300"/>
              </a:spcAft>
              <a:defRPr sz="1100">
                <a:solidFill>
                  <a:srgbClr val="1E293B"/>
                </a:solidFill>
                <a:latin typeface="Arial"/>
              </a:defRPr>
            </a:pPr>
            <a:r>
              <a:t>• Đặt sân nhanh chóng qua lưới trực quan.</a:t>
            </a:r>
          </a:p>
          <a:p>
            <a:pPr>
              <a:spcAft>
                <a:spcPts val="300"/>
              </a:spcAft>
              <a:defRPr sz="1100">
                <a:solidFill>
                  <a:srgbClr val="1E293B"/>
                </a:solidFill>
                <a:latin typeface="Arial"/>
              </a:defRPr>
            </a:pPr>
            <a:r>
              <a:t>• Tải ảnh minh chứng chuyển khoản dễ dàng.</a:t>
            </a:r>
          </a:p>
          <a:p>
            <a:pPr>
              <a:spcAft>
                <a:spcPts val="300"/>
              </a:spcAft>
              <a:defRPr sz="1100">
                <a:solidFill>
                  <a:srgbClr val="1E293B"/>
                </a:solidFill>
                <a:latin typeface="Arial"/>
              </a:defRPr>
            </a:pPr>
            <a:r>
              <a:t>• Xem lịch sử &amp; trạng thái đơn hàng cá nhân.</a:t>
            </a:r>
          </a:p>
        </p:txBody>
      </p:sp>
      <p:sp>
        <p:nvSpPr>
          <p:cNvPr id="6" name="Rounded Rectangle 5"/>
          <p:cNvSpPr/>
          <p:nvPr/>
        </p:nvSpPr>
        <p:spPr>
          <a:xfrm>
            <a:off x="4434840" y="2194560"/>
            <a:ext cx="3383280" cy="3931920"/>
          </a:xfrm>
          <a:prstGeom prst="roundRect">
            <a:avLst/>
          </a:prstGeom>
          <a:solidFill>
            <a:srgbClr val="F1F5F9"/>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spcAft>
                <a:spcPts val="600"/>
              </a:spcAft>
              <a:defRPr sz="1500" b="1">
                <a:solidFill>
                  <a:srgbClr val="059669"/>
                </a:solidFill>
                <a:latin typeface="Arial"/>
              </a:defRPr>
            </a:pPr>
            <a:r>
              <a:t>Chị Hoa - Nhân viên</a:t>
            </a:r>
          </a:p>
          <a:p>
            <a:pPr>
              <a:spcAft>
                <a:spcPts val="400"/>
              </a:spcAft>
              <a:defRPr sz="1200" b="1">
                <a:solidFill>
                  <a:srgbClr val="1E293B"/>
                </a:solidFill>
                <a:latin typeface="Arial"/>
              </a:defRPr>
            </a:pPr>
            <a:r>
              <a:t>Nhu cầu:</a:t>
            </a:r>
          </a:p>
          <a:p>
            <a:pPr>
              <a:spcAft>
                <a:spcPts val="300"/>
              </a:spcAft>
              <a:defRPr sz="1100">
                <a:solidFill>
                  <a:srgbClr val="1E293B"/>
                </a:solidFill>
                <a:latin typeface="Arial"/>
              </a:defRPr>
            </a:pPr>
            <a:r>
              <a:t>• Theo dõi toàn bộ lịch đặt sân trong ngày.</a:t>
            </a:r>
          </a:p>
          <a:p>
            <a:pPr>
              <a:spcAft>
                <a:spcPts val="300"/>
              </a:spcAft>
              <a:defRPr sz="1100">
                <a:solidFill>
                  <a:srgbClr val="1E293B"/>
                </a:solidFill>
                <a:latin typeface="Arial"/>
              </a:defRPr>
            </a:pPr>
            <a:r>
              <a:t>• Duyệt nhanh hóa đơn chuyển khoản qua ảnh.</a:t>
            </a:r>
          </a:p>
          <a:p>
            <a:pPr>
              <a:spcAft>
                <a:spcPts val="300"/>
              </a:spcAft>
              <a:defRPr sz="1100">
                <a:solidFill>
                  <a:srgbClr val="1E293B"/>
                </a:solidFill>
                <a:latin typeface="Arial"/>
              </a:defRPr>
            </a:pPr>
            <a:r>
              <a:t>• Hỗ trợ đặt sân cho khách tại quầy.</a:t>
            </a:r>
          </a:p>
          <a:p>
            <a:pPr>
              <a:spcAft>
                <a:spcPts val="300"/>
              </a:spcAft>
              <a:defRPr sz="1100">
                <a:solidFill>
                  <a:srgbClr val="1E293B"/>
                </a:solidFill>
                <a:latin typeface="Arial"/>
              </a:defRPr>
            </a:pPr>
            <a:r>
              <a:t>• Cập nhật trạng thái sân (hoạt động/bảo trì).</a:t>
            </a:r>
          </a:p>
        </p:txBody>
      </p:sp>
      <p:sp>
        <p:nvSpPr>
          <p:cNvPr id="7" name="Rounded Rectangle 6"/>
          <p:cNvSpPr/>
          <p:nvPr/>
        </p:nvSpPr>
        <p:spPr>
          <a:xfrm>
            <a:off x="8183880" y="2194560"/>
            <a:ext cx="3383280" cy="3931920"/>
          </a:xfrm>
          <a:prstGeom prst="roundRect">
            <a:avLst/>
          </a:prstGeom>
          <a:solidFill>
            <a:srgbClr val="F1F5F9"/>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spcAft>
                <a:spcPts val="600"/>
              </a:spcAft>
              <a:defRPr sz="1500" b="1">
                <a:solidFill>
                  <a:srgbClr val="0F172A"/>
                </a:solidFill>
                <a:latin typeface="Arial"/>
              </a:defRPr>
            </a:pPr>
            <a:r>
              <a:t>Anh Hải - Chủ cơ sở</a:t>
            </a:r>
          </a:p>
          <a:p>
            <a:pPr>
              <a:spcAft>
                <a:spcPts val="400"/>
              </a:spcAft>
              <a:defRPr sz="1200" b="1">
                <a:solidFill>
                  <a:srgbClr val="1E293B"/>
                </a:solidFill>
                <a:latin typeface="Arial"/>
              </a:defRPr>
            </a:pPr>
            <a:r>
              <a:t>Nhu cầu:</a:t>
            </a:r>
          </a:p>
          <a:p>
            <a:pPr>
              <a:spcAft>
                <a:spcPts val="300"/>
              </a:spcAft>
              <a:defRPr sz="1100">
                <a:solidFill>
                  <a:srgbClr val="1E293B"/>
                </a:solidFill>
                <a:latin typeface="Arial"/>
              </a:defRPr>
            </a:pPr>
            <a:r>
              <a:t>• Xem dashboard báo cáo doanh thu trực quan.</a:t>
            </a:r>
          </a:p>
          <a:p>
            <a:pPr>
              <a:spcAft>
                <a:spcPts val="300"/>
              </a:spcAft>
              <a:defRPr sz="1100">
                <a:solidFill>
                  <a:srgbClr val="1E293B"/>
                </a:solidFill>
                <a:latin typeface="Arial"/>
              </a:defRPr>
            </a:pPr>
            <a:r>
              <a:t>• Quản lý danh sách nhân viên và phân quyền.</a:t>
            </a:r>
          </a:p>
          <a:p>
            <a:pPr>
              <a:spcAft>
                <a:spcPts val="300"/>
              </a:spcAft>
              <a:defRPr sz="1100">
                <a:solidFill>
                  <a:srgbClr val="1E293B"/>
                </a:solidFill>
                <a:latin typeface="Arial"/>
              </a:defRPr>
            </a:pPr>
            <a:r>
              <a:t>• Có toàn quyền chỉnh sửa/xóa dữ liệu nhạy cảm.</a:t>
            </a:r>
          </a:p>
          <a:p>
            <a:pPr>
              <a:spcAft>
                <a:spcPts val="300"/>
              </a:spcAft>
              <a:defRPr sz="1100">
                <a:solidFill>
                  <a:srgbClr val="1E293B"/>
                </a:solidFill>
                <a:latin typeface="Arial"/>
              </a:defRPr>
            </a:pPr>
            <a:r>
              <a:t>• Tối ưu hóa công suất khai thác các sân.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BFBFA"/>
        </a:solidFill>
        <a:effectLst/>
      </p:bgPr>
    </p:bg>
    <p:spTree>
      <p:nvGrpSpPr>
        <p:cNvPr id="1" name=""/>
        <p:cNvGrpSpPr/>
        <p:nvPr/>
      </p:nvGrpSpPr>
      <p:grpSpPr>
        <a:xfrm>
          <a:off x="0" y="0"/>
          <a:ext cx="0" cy="0"/>
          <a:chOff x="0" y="0"/>
          <a:chExt cx="0" cy="0"/>
        </a:xfrm>
      </p:grpSpPr>
      <p:sp>
        <p:nvSpPr>
          <p:cNvPr id="2" name="TextBox 1"/>
          <p:cNvSpPr txBox="1"/>
          <p:nvPr/>
        </p:nvSpPr>
        <p:spPr>
          <a:xfrm>
            <a:off x="685800" y="457200"/>
            <a:ext cx="10820095" cy="914400"/>
          </a:xfrm>
          <a:prstGeom prst="rect">
            <a:avLst/>
          </a:prstGeom>
          <a:noFill/>
        </p:spPr>
        <p:txBody>
          <a:bodyPr wrap="square" lIns="0" tIns="0" rIns="0" bIns="0">
            <a:spAutoFit/>
          </a:bodyPr>
          <a:lstStyle/>
          <a:p>
            <a:pPr>
              <a:defRPr sz="2800" b="1">
                <a:solidFill>
                  <a:srgbClr val="0F172A"/>
                </a:solidFill>
                <a:latin typeface="Georgia"/>
              </a:defRPr>
            </a:pPr>
            <a:r>
              <a:t>Đặc tả Use Cases cốt lõi</a:t>
            </a:r>
          </a:p>
        </p:txBody>
      </p:sp>
      <p:sp>
        <p:nvSpPr>
          <p:cNvPr id="3" name="Rectangle 2"/>
          <p:cNvSpPr/>
          <p:nvPr/>
        </p:nvSpPr>
        <p:spPr>
          <a:xfrm>
            <a:off x="685800" y="1188720"/>
            <a:ext cx="10820095" cy="2540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nvGraphicFramePr>
        <p:xfrm>
          <a:off x="685800" y="1645920"/>
          <a:ext cx="10820095" cy="438912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5608015">
                  <a:extLst>
                    <a:ext uri="{9D8B030D-6E8A-4147-A177-3AD203B41FA5}">
                      <a16:colId xmlns:a16="http://schemas.microsoft.com/office/drawing/2014/main" val="20002"/>
                    </a:ext>
                  </a:extLst>
                </a:gridCol>
              </a:tblGrid>
              <a:tr h="548640">
                <a:tc>
                  <a:txBody>
                    <a:bodyPr/>
                    <a:lstStyle/>
                    <a:p>
                      <a:pPr algn="ctr">
                        <a:defRPr sz="1300" b="1">
                          <a:solidFill>
                            <a:srgbClr val="FFFFFF"/>
                          </a:solidFill>
                          <a:latin typeface="Arial"/>
                        </a:defRPr>
                      </a:pPr>
                      <a:r>
                        <a:t>Mã Use Case / Tên</a:t>
                      </a:r>
                    </a:p>
                  </a:txBody>
                  <a:tcPr>
                    <a:solidFill>
                      <a:srgbClr val="059669"/>
                    </a:solidFill>
                  </a:tcPr>
                </a:tc>
                <a:tc>
                  <a:txBody>
                    <a:bodyPr/>
                    <a:lstStyle/>
                    <a:p>
                      <a:pPr algn="ctr">
                        <a:defRPr sz="1300" b="1">
                          <a:solidFill>
                            <a:srgbClr val="FFFFFF"/>
                          </a:solidFill>
                          <a:latin typeface="Arial"/>
                        </a:defRPr>
                      </a:pPr>
                      <a:r>
                        <a:t>Tác nhân (Actor)</a:t>
                      </a:r>
                    </a:p>
                  </a:txBody>
                  <a:tcPr>
                    <a:solidFill>
                      <a:srgbClr val="059669"/>
                    </a:solidFill>
                  </a:tcPr>
                </a:tc>
                <a:tc>
                  <a:txBody>
                    <a:bodyPr/>
                    <a:lstStyle/>
                    <a:p>
                      <a:pPr algn="ctr">
                        <a:defRPr sz="1300" b="1">
                          <a:solidFill>
                            <a:srgbClr val="FFFFFF"/>
                          </a:solidFill>
                          <a:latin typeface="Arial"/>
                        </a:defRPr>
                      </a:pPr>
                      <a:r>
                        <a:t>Mô tả nghiệp vụ chính</a:t>
                      </a:r>
                    </a:p>
                  </a:txBody>
                  <a:tcPr>
                    <a:solidFill>
                      <a:srgbClr val="059669"/>
                    </a:solidFill>
                  </a:tcPr>
                </a:tc>
                <a:extLst>
                  <a:ext uri="{0D108BD9-81ED-4DB2-BD59-A6C34878D82A}">
                    <a16:rowId xmlns:a16="http://schemas.microsoft.com/office/drawing/2014/main" val="10000"/>
                  </a:ext>
                </a:extLst>
              </a:tr>
              <a:tr h="548640">
                <a:tc>
                  <a:txBody>
                    <a:bodyPr/>
                    <a:lstStyle/>
                    <a:p>
                      <a:pPr algn="ctr">
                        <a:defRPr sz="1100" b="1">
                          <a:solidFill>
                            <a:srgbClr val="1E293B"/>
                          </a:solidFill>
                          <a:latin typeface="Arial"/>
                        </a:defRPr>
                      </a:pPr>
                      <a:r>
                        <a:t>UC-01: Đặt sân</a:t>
                      </a:r>
                    </a:p>
                  </a:txBody>
                  <a:tcPr>
                    <a:solidFill>
                      <a:srgbClr val="FFFFFF"/>
                    </a:solidFill>
                  </a:tcPr>
                </a:tc>
                <a:tc>
                  <a:txBody>
                    <a:bodyPr/>
                    <a:lstStyle/>
                    <a:p>
                      <a:pPr algn="ctr">
                        <a:defRPr sz="1100" b="1">
                          <a:solidFill>
                            <a:srgbClr val="1E293B"/>
                          </a:solidFill>
                          <a:latin typeface="Arial"/>
                        </a:defRPr>
                      </a:pPr>
                      <a:r>
                        <a:t>Customer</a:t>
                      </a:r>
                    </a:p>
                  </a:txBody>
                  <a:tcPr>
                    <a:solidFill>
                      <a:srgbClr val="FFFFFF"/>
                    </a:solidFill>
                  </a:tcPr>
                </a:tc>
                <a:tc>
                  <a:txBody>
                    <a:bodyPr/>
                    <a:lstStyle/>
                    <a:p>
                      <a:pPr>
                        <a:defRPr sz="1100">
                          <a:solidFill>
                            <a:srgbClr val="1E293B"/>
                          </a:solidFill>
                          <a:latin typeface="Arial"/>
                        </a:defRPr>
                      </a:pPr>
                      <a:r>
                        <a:t>Xem lưới giờ trống, chọn khung giờ, hệ thống tính tiền, lưu booking pending.</a:t>
                      </a:r>
                    </a:p>
                  </a:txBody>
                  <a:tcPr>
                    <a:solidFill>
                      <a:srgbClr val="FFFFFF"/>
                    </a:solidFill>
                  </a:tcPr>
                </a:tc>
                <a:extLst>
                  <a:ext uri="{0D108BD9-81ED-4DB2-BD59-A6C34878D82A}">
                    <a16:rowId xmlns:a16="http://schemas.microsoft.com/office/drawing/2014/main" val="10001"/>
                  </a:ext>
                </a:extLst>
              </a:tr>
              <a:tr h="548640">
                <a:tc>
                  <a:txBody>
                    <a:bodyPr/>
                    <a:lstStyle/>
                    <a:p>
                      <a:pPr algn="ctr">
                        <a:defRPr sz="1100" b="1">
                          <a:solidFill>
                            <a:srgbClr val="1E293B"/>
                          </a:solidFill>
                          <a:latin typeface="Arial"/>
                        </a:defRPr>
                      </a:pPr>
                      <a:r>
                        <a:t>UC-02: Thanh toán booking</a:t>
                      </a:r>
                    </a:p>
                  </a:txBody>
                  <a:tcPr>
                    <a:solidFill>
                      <a:srgbClr val="F1F5F9"/>
                    </a:solidFill>
                  </a:tcPr>
                </a:tc>
                <a:tc>
                  <a:txBody>
                    <a:bodyPr/>
                    <a:lstStyle/>
                    <a:p>
                      <a:pPr algn="ctr">
                        <a:defRPr sz="1100" b="1">
                          <a:solidFill>
                            <a:srgbClr val="1E293B"/>
                          </a:solidFill>
                          <a:latin typeface="Arial"/>
                        </a:defRPr>
                      </a:pPr>
                      <a:r>
                        <a:t>Customer</a:t>
                      </a:r>
                    </a:p>
                  </a:txBody>
                  <a:tcPr>
                    <a:solidFill>
                      <a:srgbClr val="F1F5F9"/>
                    </a:solidFill>
                  </a:tcPr>
                </a:tc>
                <a:tc>
                  <a:txBody>
                    <a:bodyPr/>
                    <a:lstStyle/>
                    <a:p>
                      <a:pPr>
                        <a:defRPr sz="1100">
                          <a:solidFill>
                            <a:srgbClr val="1E293B"/>
                          </a:solidFill>
                          <a:latin typeface="Arial"/>
                        </a:defRPr>
                      </a:pPr>
                      <a:r>
                        <a:t>Chọn trả tiền mặt hoặc chuyển khoản (tải ảnh chụp minh chứng chuyển khoản).</a:t>
                      </a:r>
                    </a:p>
                  </a:txBody>
                  <a:tcPr>
                    <a:solidFill>
                      <a:srgbClr val="F1F5F9"/>
                    </a:solidFill>
                  </a:tcPr>
                </a:tc>
                <a:extLst>
                  <a:ext uri="{0D108BD9-81ED-4DB2-BD59-A6C34878D82A}">
                    <a16:rowId xmlns:a16="http://schemas.microsoft.com/office/drawing/2014/main" val="10002"/>
                  </a:ext>
                </a:extLst>
              </a:tr>
              <a:tr h="548640">
                <a:tc>
                  <a:txBody>
                    <a:bodyPr/>
                    <a:lstStyle/>
                    <a:p>
                      <a:pPr algn="ctr">
                        <a:defRPr sz="1100" b="1">
                          <a:solidFill>
                            <a:srgbClr val="1E293B"/>
                          </a:solidFill>
                          <a:latin typeface="Arial"/>
                        </a:defRPr>
                      </a:pPr>
                      <a:r>
                        <a:t>UC-03: Xác nhận booking</a:t>
                      </a:r>
                    </a:p>
                  </a:txBody>
                  <a:tcPr>
                    <a:solidFill>
                      <a:srgbClr val="FFFFFF"/>
                    </a:solidFill>
                  </a:tcPr>
                </a:tc>
                <a:tc>
                  <a:txBody>
                    <a:bodyPr/>
                    <a:lstStyle/>
                    <a:p>
                      <a:pPr algn="ctr">
                        <a:defRPr sz="1100" b="1">
                          <a:solidFill>
                            <a:srgbClr val="1E293B"/>
                          </a:solidFill>
                          <a:latin typeface="Arial"/>
                        </a:defRPr>
                      </a:pPr>
                      <a:r>
                        <a:t>Staff, Admin</a:t>
                      </a:r>
                    </a:p>
                  </a:txBody>
                  <a:tcPr>
                    <a:solidFill>
                      <a:srgbClr val="FFFFFF"/>
                    </a:solidFill>
                  </a:tcPr>
                </a:tc>
                <a:tc>
                  <a:txBody>
                    <a:bodyPr/>
                    <a:lstStyle/>
                    <a:p>
                      <a:pPr>
                        <a:defRPr sz="1100">
                          <a:solidFill>
                            <a:srgbClr val="1E293B"/>
                          </a:solidFill>
                          <a:latin typeface="Arial"/>
                        </a:defRPr>
                      </a:pPr>
                      <a:r>
                        <a:t>Nhân viên kiểm tra và xác nhận lịch đặt, cập nhật thông tin sân, dọn dẹp lịch cũ.</a:t>
                      </a:r>
                    </a:p>
                  </a:txBody>
                  <a:tcPr>
                    <a:solidFill>
                      <a:srgbClr val="FFFFFF"/>
                    </a:solidFill>
                  </a:tcPr>
                </a:tc>
                <a:extLst>
                  <a:ext uri="{0D108BD9-81ED-4DB2-BD59-A6C34878D82A}">
                    <a16:rowId xmlns:a16="http://schemas.microsoft.com/office/drawing/2014/main" val="10003"/>
                  </a:ext>
                </a:extLst>
              </a:tr>
              <a:tr h="548640">
                <a:tc>
                  <a:txBody>
                    <a:bodyPr/>
                    <a:lstStyle/>
                    <a:p>
                      <a:pPr algn="ctr">
                        <a:defRPr sz="1100" b="1">
                          <a:solidFill>
                            <a:srgbClr val="1E293B"/>
                          </a:solidFill>
                          <a:latin typeface="Arial"/>
                        </a:defRPr>
                      </a:pPr>
                      <a:r>
                        <a:t>UC-04: Hủy đơn đặt sân</a:t>
                      </a:r>
                    </a:p>
                  </a:txBody>
                  <a:tcPr>
                    <a:solidFill>
                      <a:srgbClr val="F1F5F9"/>
                    </a:solidFill>
                  </a:tcPr>
                </a:tc>
                <a:tc>
                  <a:txBody>
                    <a:bodyPr/>
                    <a:lstStyle/>
                    <a:p>
                      <a:pPr algn="ctr">
                        <a:defRPr sz="1100" b="1">
                          <a:solidFill>
                            <a:srgbClr val="1E293B"/>
                          </a:solidFill>
                          <a:latin typeface="Arial"/>
                        </a:defRPr>
                      </a:pPr>
                      <a:r>
                        <a:t>Customer, Staff, Admin</a:t>
                      </a:r>
                    </a:p>
                  </a:txBody>
                  <a:tcPr>
                    <a:solidFill>
                      <a:srgbClr val="F1F5F9"/>
                    </a:solidFill>
                  </a:tcPr>
                </a:tc>
                <a:tc>
                  <a:txBody>
                    <a:bodyPr/>
                    <a:lstStyle/>
                    <a:p>
                      <a:pPr>
                        <a:defRPr sz="1100">
                          <a:solidFill>
                            <a:srgbClr val="1E293B"/>
                          </a:solidFill>
                          <a:latin typeface="Arial"/>
                        </a:defRPr>
                      </a:pPr>
                      <a:r>
                        <a:t>Chuyển đơn đặt sân sang 'cancelled', tự động cập nhật hóa đơn tương ứng thành 'failed'.</a:t>
                      </a:r>
                    </a:p>
                  </a:txBody>
                  <a:tcPr>
                    <a:solidFill>
                      <a:srgbClr val="F1F5F9"/>
                    </a:solidFill>
                  </a:tcPr>
                </a:tc>
                <a:extLst>
                  <a:ext uri="{0D108BD9-81ED-4DB2-BD59-A6C34878D82A}">
                    <a16:rowId xmlns:a16="http://schemas.microsoft.com/office/drawing/2014/main" val="10004"/>
                  </a:ext>
                </a:extLst>
              </a:tr>
              <a:tr h="548640">
                <a:tc>
                  <a:txBody>
                    <a:bodyPr/>
                    <a:lstStyle/>
                    <a:p>
                      <a:pPr algn="ctr">
                        <a:defRPr sz="1100" b="1">
                          <a:solidFill>
                            <a:srgbClr val="1E293B"/>
                          </a:solidFill>
                          <a:latin typeface="Arial"/>
                        </a:defRPr>
                      </a:pPr>
                      <a:r>
                        <a:t>UC-05: Tự động hết hạn</a:t>
                      </a:r>
                    </a:p>
                  </a:txBody>
                  <a:tcPr>
                    <a:solidFill>
                      <a:srgbClr val="FFFFFF"/>
                    </a:solidFill>
                  </a:tcPr>
                </a:tc>
                <a:tc>
                  <a:txBody>
                    <a:bodyPr/>
                    <a:lstStyle/>
                    <a:p>
                      <a:pPr algn="ctr">
                        <a:defRPr sz="1100" b="1">
                          <a:solidFill>
                            <a:srgbClr val="1E293B"/>
                          </a:solidFill>
                          <a:latin typeface="Arial"/>
                        </a:defRPr>
                      </a:pPr>
                      <a:r>
                        <a:t>Hệ thống (lazy)</a:t>
                      </a:r>
                    </a:p>
                  </a:txBody>
                  <a:tcPr>
                    <a:solidFill>
                      <a:srgbClr val="FFFFFF"/>
                    </a:solidFill>
                  </a:tcPr>
                </a:tc>
                <a:tc>
                  <a:txBody>
                    <a:bodyPr/>
                    <a:lstStyle/>
                    <a:p>
                      <a:pPr>
                        <a:defRPr sz="1100">
                          <a:solidFill>
                            <a:srgbClr val="1E293B"/>
                          </a:solidFill>
                          <a:latin typeface="Arial"/>
                        </a:defRPr>
                      </a:pPr>
                      <a:r>
                        <a:t>Chạy tự động khi có truy vấn; hủy đơn và giải phóng khung giờ nếu quá hạn thanh toán.</a:t>
                      </a:r>
                    </a:p>
                  </a:txBody>
                  <a:tcPr>
                    <a:solidFill>
                      <a:srgbClr val="FFFFFF"/>
                    </a:solidFill>
                  </a:tcPr>
                </a:tc>
                <a:extLst>
                  <a:ext uri="{0D108BD9-81ED-4DB2-BD59-A6C34878D82A}">
                    <a16:rowId xmlns:a16="http://schemas.microsoft.com/office/drawing/2014/main" val="10005"/>
                  </a:ext>
                </a:extLst>
              </a:tr>
              <a:tr h="548640">
                <a:tc>
                  <a:txBody>
                    <a:bodyPr/>
                    <a:lstStyle/>
                    <a:p>
                      <a:pPr algn="ctr">
                        <a:defRPr sz="1100" b="1">
                          <a:solidFill>
                            <a:srgbClr val="1E293B"/>
                          </a:solidFill>
                          <a:latin typeface="Arial"/>
                        </a:defRPr>
                      </a:pPr>
                      <a:r>
                        <a:t>UC-06: Thống kê doanh thu</a:t>
                      </a:r>
                    </a:p>
                  </a:txBody>
                  <a:tcPr>
                    <a:solidFill>
                      <a:srgbClr val="F1F5F9"/>
                    </a:solidFill>
                  </a:tcPr>
                </a:tc>
                <a:tc>
                  <a:txBody>
                    <a:bodyPr/>
                    <a:lstStyle/>
                    <a:p>
                      <a:pPr algn="ctr">
                        <a:defRPr sz="1100" b="1">
                          <a:solidFill>
                            <a:srgbClr val="1E293B"/>
                          </a:solidFill>
                          <a:latin typeface="Arial"/>
                        </a:defRPr>
                      </a:pPr>
                      <a:r>
                        <a:t>Staff, Admin</a:t>
                      </a:r>
                    </a:p>
                  </a:txBody>
                  <a:tcPr>
                    <a:solidFill>
                      <a:srgbClr val="F1F5F9"/>
                    </a:solidFill>
                  </a:tcPr>
                </a:tc>
                <a:tc>
                  <a:txBody>
                    <a:bodyPr/>
                    <a:lstStyle/>
                    <a:p>
                      <a:pPr>
                        <a:defRPr sz="1100">
                          <a:solidFill>
                            <a:srgbClr val="1E293B"/>
                          </a:solidFill>
                          <a:latin typeface="Arial"/>
                        </a:defRPr>
                      </a:pPr>
                      <a:r>
                        <a:t>Nhập khoảng thời gian, trả về doanh thu thực tế, biểu đồ thống kê theo ngày.</a:t>
                      </a:r>
                    </a:p>
                  </a:txBody>
                  <a:tcPr>
                    <a:solidFill>
                      <a:srgbClr val="F1F5F9"/>
                    </a:solidFill>
                  </a:tcPr>
                </a:tc>
                <a:extLst>
                  <a:ext uri="{0D108BD9-81ED-4DB2-BD59-A6C34878D82A}">
                    <a16:rowId xmlns:a16="http://schemas.microsoft.com/office/drawing/2014/main" val="10006"/>
                  </a:ext>
                </a:extLst>
              </a:tr>
              <a:tr h="548640">
                <a:tc>
                  <a:txBody>
                    <a:bodyPr/>
                    <a:lstStyle/>
                    <a:p>
                      <a:pPr algn="ctr">
                        <a:defRPr sz="1100" b="1">
                          <a:solidFill>
                            <a:srgbClr val="1E293B"/>
                          </a:solidFill>
                          <a:latin typeface="Arial"/>
                        </a:defRPr>
                      </a:pPr>
                      <a:r>
                        <a:t>UC-07: Tra cứu giờ trống</a:t>
                      </a:r>
                    </a:p>
                  </a:txBody>
                  <a:tcPr>
                    <a:solidFill>
                      <a:srgbClr val="FFFFFF"/>
                    </a:solidFill>
                  </a:tcPr>
                </a:tc>
                <a:tc>
                  <a:txBody>
                    <a:bodyPr/>
                    <a:lstStyle/>
                    <a:p>
                      <a:pPr algn="ctr">
                        <a:defRPr sz="1100" b="1">
                          <a:solidFill>
                            <a:srgbClr val="1E293B"/>
                          </a:solidFill>
                          <a:latin typeface="Arial"/>
                        </a:defRPr>
                      </a:pPr>
                      <a:r>
                        <a:t>Customer, Staff, Admin</a:t>
                      </a:r>
                    </a:p>
                  </a:txBody>
                  <a:tcPr>
                    <a:solidFill>
                      <a:srgbClr val="FFFFFF"/>
                    </a:solidFill>
                  </a:tcPr>
                </a:tc>
                <a:tc>
                  <a:txBody>
                    <a:bodyPr/>
                    <a:lstStyle/>
                    <a:p>
                      <a:pPr>
                        <a:defRPr sz="1100">
                          <a:solidFill>
                            <a:srgbClr val="1E293B"/>
                          </a:solidFill>
                          <a:latin typeface="Arial"/>
                        </a:defRPr>
                      </a:pPr>
                      <a:r>
                        <a:t>Dựng lưới khung giờ từ 06:00-21:00, tô đỏ các khung giờ đã có người đặt.</a:t>
                      </a:r>
                    </a:p>
                  </a:txBody>
                  <a:tcPr>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BFBFA"/>
        </a:solidFill>
        <a:effectLst/>
      </p:bgPr>
    </p:bg>
    <p:spTree>
      <p:nvGrpSpPr>
        <p:cNvPr id="1" name=""/>
        <p:cNvGrpSpPr/>
        <p:nvPr/>
      </p:nvGrpSpPr>
      <p:grpSpPr>
        <a:xfrm>
          <a:off x="0" y="0"/>
          <a:ext cx="0" cy="0"/>
          <a:chOff x="0" y="0"/>
          <a:chExt cx="0" cy="0"/>
        </a:xfrm>
      </p:grpSpPr>
      <p:sp>
        <p:nvSpPr>
          <p:cNvPr id="2" name="TextBox 1"/>
          <p:cNvSpPr txBox="1"/>
          <p:nvPr/>
        </p:nvSpPr>
        <p:spPr>
          <a:xfrm>
            <a:off x="685800" y="457200"/>
            <a:ext cx="10820095" cy="914400"/>
          </a:xfrm>
          <a:prstGeom prst="rect">
            <a:avLst/>
          </a:prstGeom>
          <a:noFill/>
        </p:spPr>
        <p:txBody>
          <a:bodyPr wrap="square" lIns="0" tIns="0" rIns="0" bIns="0">
            <a:spAutoFit/>
          </a:bodyPr>
          <a:lstStyle/>
          <a:p>
            <a:pPr>
              <a:defRPr sz="2800" b="1">
                <a:solidFill>
                  <a:srgbClr val="0F172A"/>
                </a:solidFill>
                <a:latin typeface="Georgia"/>
              </a:defRPr>
            </a:pPr>
            <a:r>
              <a:t>User Stories &amp; Product Backlog</a:t>
            </a:r>
          </a:p>
        </p:txBody>
      </p:sp>
      <p:sp>
        <p:nvSpPr>
          <p:cNvPr id="3" name="Rectangle 2"/>
          <p:cNvSpPr/>
          <p:nvPr/>
        </p:nvSpPr>
        <p:spPr>
          <a:xfrm>
            <a:off x="685800" y="1188720"/>
            <a:ext cx="10820095" cy="2540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645920"/>
            <a:ext cx="5120640" cy="4389120"/>
          </a:xfrm>
          <a:prstGeom prst="rect">
            <a:avLst/>
          </a:prstGeom>
          <a:noFill/>
        </p:spPr>
        <p:txBody>
          <a:bodyPr wrap="square" tIns="91440" bIns="91440">
            <a:spAutoFit/>
          </a:bodyPr>
          <a:lstStyle/>
          <a:p>
            <a:pPr>
              <a:spcAft>
                <a:spcPts val="800"/>
              </a:spcAft>
              <a:defRPr sz="1600" b="1">
                <a:solidFill>
                  <a:srgbClr val="059669"/>
                </a:solidFill>
                <a:latin typeface="Arial"/>
              </a:defRPr>
            </a:pPr>
            <a:r>
              <a:t>🎯 USER STORIES (US01 - US10)</a:t>
            </a:r>
          </a:p>
          <a:p>
            <a:pPr>
              <a:spcAft>
                <a:spcPts val="400"/>
              </a:spcAft>
              <a:defRPr sz="1200">
                <a:solidFill>
                  <a:srgbClr val="1E293B"/>
                </a:solidFill>
                <a:latin typeface="Arial"/>
              </a:defRPr>
            </a:pPr>
            <a:r>
              <a:t>• US01 &amp; US02: Đăng ký &amp; Đăng nhập bằng số điện thoại.</a:t>
            </a:r>
          </a:p>
          <a:p>
            <a:pPr>
              <a:spcAft>
                <a:spcPts val="400"/>
              </a:spcAft>
              <a:defRPr sz="1200">
                <a:solidFill>
                  <a:srgbClr val="1E293B"/>
                </a:solidFill>
                <a:latin typeface="Arial"/>
              </a:defRPr>
            </a:pPr>
            <a:r>
              <a:t>• US03: Khách hàng xem danh sách, hình ảnh và giá sân.</a:t>
            </a:r>
          </a:p>
          <a:p>
            <a:pPr>
              <a:spcAft>
                <a:spcPts val="400"/>
              </a:spcAft>
              <a:defRPr sz="1200">
                <a:solidFill>
                  <a:srgbClr val="1E293B"/>
                </a:solidFill>
                <a:latin typeface="Arial"/>
              </a:defRPr>
            </a:pPr>
            <a:r>
              <a:t>• US04 &amp; US05: Tra cứu lưới khung giờ trống &amp; tạo đơn đặt sân.</a:t>
            </a:r>
          </a:p>
          <a:p>
            <a:pPr>
              <a:spcAft>
                <a:spcPts val="400"/>
              </a:spcAft>
              <a:defRPr sz="1200">
                <a:solidFill>
                  <a:srgbClr val="1E293B"/>
                </a:solidFill>
                <a:latin typeface="Arial"/>
              </a:defRPr>
            </a:pPr>
            <a:r>
              <a:t>• US06: Thanh toán đơn bằng tải ảnh minh chứng hoặc tại quầy.</a:t>
            </a:r>
          </a:p>
          <a:p>
            <a:pPr>
              <a:spcAft>
                <a:spcPts val="400"/>
              </a:spcAft>
              <a:defRPr sz="1200">
                <a:solidFill>
                  <a:srgbClr val="1E293B"/>
                </a:solidFill>
                <a:latin typeface="Arial"/>
              </a:defRPr>
            </a:pPr>
            <a:r>
              <a:t>• US07: Admin/Staff quản lý thông tin sân và loại sân.</a:t>
            </a:r>
          </a:p>
          <a:p>
            <a:pPr>
              <a:spcAft>
                <a:spcPts val="400"/>
              </a:spcAft>
              <a:defRPr sz="1200">
                <a:solidFill>
                  <a:srgbClr val="1E293B"/>
                </a:solidFill>
                <a:latin typeface="Arial"/>
              </a:defRPr>
            </a:pPr>
            <a:r>
              <a:t>• US08: Admin/Staff cập nhật trạng thái đơn đặt sân.</a:t>
            </a:r>
          </a:p>
          <a:p>
            <a:pPr>
              <a:spcAft>
                <a:spcPts val="400"/>
              </a:spcAft>
              <a:defRPr sz="1200">
                <a:solidFill>
                  <a:srgbClr val="1E293B"/>
                </a:solidFill>
                <a:latin typeface="Arial"/>
              </a:defRPr>
            </a:pPr>
            <a:r>
              <a:t>• US09: Bảo mật thông tin &amp; API nhạy cảm bằng token JWT.</a:t>
            </a:r>
          </a:p>
          <a:p>
            <a:pPr>
              <a:spcAft>
                <a:spcPts val="400"/>
              </a:spcAft>
              <a:defRPr sz="1200">
                <a:solidFill>
                  <a:srgbClr val="1E293B"/>
                </a:solidFill>
                <a:latin typeface="Arial"/>
              </a:defRPr>
            </a:pPr>
            <a:r>
              <a:t>• US10: Quản trị viên theo dõi Dashboard thống kê doanh thu.</a:t>
            </a:r>
          </a:p>
        </p:txBody>
      </p:sp>
      <p:sp>
        <p:nvSpPr>
          <p:cNvPr id="5" name="TextBox 4"/>
          <p:cNvSpPr txBox="1"/>
          <p:nvPr/>
        </p:nvSpPr>
        <p:spPr>
          <a:xfrm>
            <a:off x="6217920" y="1645920"/>
            <a:ext cx="5303520" cy="3075201"/>
          </a:xfrm>
          <a:prstGeom prst="rect">
            <a:avLst/>
          </a:prstGeom>
          <a:noFill/>
        </p:spPr>
        <p:txBody>
          <a:bodyPr wrap="square" tIns="91440" bIns="91440">
            <a:spAutoFit/>
          </a:bodyPr>
          <a:lstStyle/>
          <a:p>
            <a:pPr>
              <a:spcAft>
                <a:spcPts val="1200"/>
              </a:spcAft>
              <a:defRPr sz="1600" b="1">
                <a:solidFill>
                  <a:srgbClr val="0284C7"/>
                </a:solidFill>
                <a:latin typeface="Arial"/>
              </a:defRPr>
            </a:pPr>
            <a:r>
              <a:t>📦 PHÂN PHỐI EPIC &amp; CÔNG VIỆC NHÓM</a:t>
            </a:r>
          </a:p>
          <a:p>
            <a:pPr>
              <a:spcAft>
                <a:spcPts val="100"/>
              </a:spcAft>
              <a:defRPr sz="1300" b="1">
                <a:solidFill>
                  <a:srgbClr val="0F172A"/>
                </a:solidFill>
                <a:latin typeface="Arial"/>
              </a:defRPr>
            </a:pPr>
            <a:r>
              <a:t>▪ E1: Authentication &amp; User Management</a:t>
            </a:r>
          </a:p>
          <a:p>
            <a:pPr>
              <a:spcAft>
                <a:spcPts val="200"/>
              </a:spcAft>
              <a:defRPr sz="1200" b="1">
                <a:solidFill>
                  <a:srgbClr val="059669"/>
                </a:solidFill>
                <a:latin typeface="Arial"/>
              </a:defRPr>
            </a:pPr>
            <a:r>
              <a:t>  Assignee: Thành viên 1: </a:t>
            </a:r>
            <a:r>
              <a:rPr lang="en-US"/>
              <a:t>Nguyễn </a:t>
            </a:r>
            <a:r>
              <a:rPr lang="vi-VN"/>
              <a:t>Hữu Lộc</a:t>
            </a:r>
            <a:endParaRPr lang="en-US"/>
          </a:p>
          <a:p>
            <a:pPr>
              <a:spcAft>
                <a:spcPts val="800"/>
              </a:spcAft>
              <a:defRPr sz="1100">
                <a:solidFill>
                  <a:srgbClr val="1E293B"/>
                </a:solidFill>
                <a:latin typeface="Arial"/>
              </a:defRPr>
            </a:pPr>
            <a:r>
              <a:rPr lang="en-US"/>
              <a:t>  Cấu hình base Backend, JWT, Bcrypt, Middleware xác thực, Swagger docs, Schema User.</a:t>
            </a:r>
          </a:p>
          <a:p>
            <a:pPr>
              <a:spcAft>
                <a:spcPts val="100"/>
              </a:spcAft>
              <a:defRPr sz="1300" b="1">
                <a:solidFill>
                  <a:srgbClr val="0F172A"/>
                </a:solidFill>
                <a:latin typeface="Arial"/>
              </a:defRPr>
            </a:pPr>
            <a:r>
              <a:t>▪ E2: Core Booking Engine &amp; Database</a:t>
            </a:r>
          </a:p>
          <a:p>
            <a:pPr>
              <a:spcAft>
                <a:spcPts val="200"/>
              </a:spcAft>
              <a:defRPr sz="1200" b="1">
                <a:solidFill>
                  <a:srgbClr val="059669"/>
                </a:solidFill>
                <a:latin typeface="Arial"/>
              </a:defRPr>
            </a:pPr>
            <a:r>
              <a:t>  Assignee: Thành viên 2: Nguyễn Thị Hân Du</a:t>
            </a:r>
          </a:p>
          <a:p>
            <a:pPr>
              <a:spcAft>
                <a:spcPts val="800"/>
              </a:spcAft>
              <a:defRPr sz="1100">
                <a:solidFill>
                  <a:srgbClr val="1E293B"/>
                </a:solidFill>
                <a:latin typeface="Arial"/>
              </a:defRPr>
            </a:pPr>
            <a:r>
              <a:t>  Thiết kế ERD, Schema DB (Field, Booking, Payment), giải thuật trùng lịch, dọn dẹp quá hạn.</a:t>
            </a:r>
          </a:p>
          <a:p>
            <a:pPr>
              <a:spcAft>
                <a:spcPts val="100"/>
              </a:spcAft>
              <a:defRPr sz="1300" b="1">
                <a:solidFill>
                  <a:srgbClr val="0F172A"/>
                </a:solidFill>
                <a:latin typeface="Arial"/>
              </a:defRPr>
            </a:pPr>
            <a:r>
              <a:t>▪ E3: React UI &amp; Dashboard</a:t>
            </a:r>
          </a:p>
          <a:p>
            <a:pPr>
              <a:spcAft>
                <a:spcPts val="200"/>
              </a:spcAft>
              <a:defRPr sz="1200" b="1">
                <a:solidFill>
                  <a:srgbClr val="059669"/>
                </a:solidFill>
                <a:latin typeface="Arial"/>
              </a:defRPr>
            </a:pPr>
            <a:r>
              <a:t>  Assignee: Thành viên 3: Nguyễn </a:t>
            </a:r>
            <a:r>
              <a:rPr lang="vi-VN"/>
              <a:t>Gia Nguyên</a:t>
            </a:r>
          </a:p>
          <a:p>
            <a:pPr>
              <a:spcAft>
                <a:spcPts val="800"/>
              </a:spcAft>
              <a:defRPr sz="1100">
                <a:solidFill>
                  <a:srgbClr val="1E293B"/>
                </a:solidFill>
                <a:latin typeface="Arial"/>
              </a:defRPr>
            </a:pPr>
            <a:r>
              <a:rPr lang="vi-VN"/>
              <a:t>  Khởi tạo React, AppRoutes, giao diện đặt sân lưới, Admin Dashboard, đóng gói Docker Compose.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BFBFA"/>
        </a:solidFill>
        <a:effectLst/>
      </p:bgPr>
    </p:bg>
    <p:spTree>
      <p:nvGrpSpPr>
        <p:cNvPr id="1" name=""/>
        <p:cNvGrpSpPr/>
        <p:nvPr/>
      </p:nvGrpSpPr>
      <p:grpSpPr>
        <a:xfrm>
          <a:off x="0" y="0"/>
          <a:ext cx="0" cy="0"/>
          <a:chOff x="0" y="0"/>
          <a:chExt cx="0" cy="0"/>
        </a:xfrm>
      </p:grpSpPr>
      <p:sp>
        <p:nvSpPr>
          <p:cNvPr id="2" name="TextBox 1"/>
          <p:cNvSpPr txBox="1"/>
          <p:nvPr/>
        </p:nvSpPr>
        <p:spPr>
          <a:xfrm>
            <a:off x="685800" y="457200"/>
            <a:ext cx="10820095" cy="914400"/>
          </a:xfrm>
          <a:prstGeom prst="rect">
            <a:avLst/>
          </a:prstGeom>
          <a:noFill/>
        </p:spPr>
        <p:txBody>
          <a:bodyPr wrap="square" lIns="0" tIns="0" rIns="0" bIns="0">
            <a:spAutoFit/>
          </a:bodyPr>
          <a:lstStyle/>
          <a:p>
            <a:pPr>
              <a:defRPr sz="2800" b="1">
                <a:solidFill>
                  <a:srgbClr val="0F172A"/>
                </a:solidFill>
                <a:latin typeface="Georgia"/>
              </a:defRPr>
            </a:pPr>
            <a:r>
              <a:t>Thiết kế Database</a:t>
            </a:r>
          </a:p>
        </p:txBody>
      </p:sp>
      <p:sp>
        <p:nvSpPr>
          <p:cNvPr id="3" name="Rectangle 2"/>
          <p:cNvSpPr/>
          <p:nvPr/>
        </p:nvSpPr>
        <p:spPr>
          <a:xfrm>
            <a:off x="685800" y="1188720"/>
            <a:ext cx="10820095" cy="2540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645920"/>
            <a:ext cx="5120640" cy="4389120"/>
          </a:xfrm>
          <a:prstGeom prst="rect">
            <a:avLst/>
          </a:prstGeom>
          <a:noFill/>
        </p:spPr>
        <p:txBody>
          <a:bodyPr wrap="square" tIns="91440" bIns="91440">
            <a:spAutoFit/>
          </a:bodyPr>
          <a:lstStyle/>
          <a:p>
            <a:pPr>
              <a:spcAft>
                <a:spcPts val="800"/>
              </a:spcAft>
              <a:defRPr sz="1600" b="1">
                <a:solidFill>
                  <a:srgbClr val="059669"/>
                </a:solidFill>
                <a:latin typeface="Arial"/>
              </a:defRPr>
            </a:pPr>
            <a:r>
              <a:t>📋 6 COLLECTIONS CHÍNH TRONG MONGODB</a:t>
            </a:r>
          </a:p>
          <a:p>
            <a:pPr>
              <a:spcAft>
                <a:spcPts val="400"/>
              </a:spcAft>
              <a:defRPr sz="1200" b="1">
                <a:solidFill>
                  <a:srgbClr val="0F172A"/>
                </a:solidFill>
                <a:latin typeface="Arial"/>
              </a:defRPr>
            </a:pPr>
            <a:r>
              <a:t>• User: </a:t>
            </a:r>
            <a:r>
              <a:rPr sz="1100" b="0">
                <a:solidFill>
                  <a:srgbClr val="1E293B"/>
                </a:solidFill>
                <a:latin typeface="Arial"/>
              </a:rPr>
              <a:t>Thông tin đăng nhập, vai trò (customer, staff, admin), mật khẩu băm Bcrypt.</a:t>
            </a:r>
          </a:p>
          <a:p>
            <a:pPr>
              <a:spcAft>
                <a:spcPts val="400"/>
              </a:spcAft>
              <a:defRPr sz="1200" b="1">
                <a:solidFill>
                  <a:srgbClr val="0F172A"/>
                </a:solidFill>
                <a:latin typeface="Arial"/>
              </a:defRPr>
            </a:pPr>
            <a:r>
              <a:t>• FieldType: </a:t>
            </a:r>
            <a:r>
              <a:rPr sz="1100" b="0">
                <a:solidFill>
                  <a:srgbClr val="1E293B"/>
                </a:solidFill>
                <a:latin typeface="Arial"/>
              </a:rPr>
              <a:t>Phân loại sân thể thao (Sân bóng đá, sân cầu lông, tennis, bóng rổ...).</a:t>
            </a:r>
          </a:p>
          <a:p>
            <a:pPr>
              <a:spcAft>
                <a:spcPts val="400"/>
              </a:spcAft>
              <a:defRPr sz="1200" b="1">
                <a:solidFill>
                  <a:srgbClr val="0F172A"/>
                </a:solidFill>
                <a:latin typeface="Arial"/>
              </a:defRPr>
            </a:pPr>
            <a:r>
              <a:t>• Field: </a:t>
            </a:r>
            <a:r>
              <a:rPr sz="1100" b="0">
                <a:solidFill>
                  <a:srgbClr val="1E293B"/>
                </a:solidFill>
                <a:latin typeface="Arial"/>
              </a:rPr>
              <a:t>Sân cụ thể kèm tên, giá thuê/giờ, mô tả, trạng thái (active, maintenance).</a:t>
            </a:r>
          </a:p>
          <a:p>
            <a:pPr>
              <a:spcAft>
                <a:spcPts val="400"/>
              </a:spcAft>
              <a:defRPr sz="1200" b="1">
                <a:solidFill>
                  <a:srgbClr val="0F172A"/>
                </a:solidFill>
                <a:latin typeface="Arial"/>
              </a:defRPr>
            </a:pPr>
            <a:r>
              <a:t>• Booking: </a:t>
            </a:r>
            <a:r>
              <a:rPr sz="1100" b="0">
                <a:solidFill>
                  <a:srgbClr val="1E293B"/>
                </a:solidFill>
                <a:latin typeface="Arial"/>
              </a:rPr>
              <a:t>Mã khách hàng, mã sân, ngày đặt, khung giờ chơi, tổng tiền, trạng thái đơn.</a:t>
            </a:r>
          </a:p>
          <a:p>
            <a:pPr>
              <a:spcAft>
                <a:spcPts val="400"/>
              </a:spcAft>
              <a:defRPr sz="1200" b="1">
                <a:solidFill>
                  <a:srgbClr val="0F172A"/>
                </a:solidFill>
                <a:latin typeface="Arial"/>
              </a:defRPr>
            </a:pPr>
            <a:r>
              <a:t>• Payment: </a:t>
            </a:r>
            <a:r>
              <a:rPr sz="1100" b="0">
                <a:solidFill>
                  <a:srgbClr val="1E293B"/>
                </a:solidFill>
                <a:latin typeface="Arial"/>
              </a:rPr>
              <a:t>Hóa đơn liên kết 1-1 với Booking, cách thanh toán, trạng thái, ảnh minh chứng.</a:t>
            </a:r>
          </a:p>
          <a:p>
            <a:pPr>
              <a:spcAft>
                <a:spcPts val="400"/>
              </a:spcAft>
              <a:defRPr sz="1200" b="1">
                <a:solidFill>
                  <a:srgbClr val="0F172A"/>
                </a:solidFill>
                <a:latin typeface="Arial"/>
              </a:defRPr>
            </a:pPr>
            <a:r>
              <a:t>• Report: </a:t>
            </a:r>
            <a:r>
              <a:rPr sz="1100" b="0">
                <a:solidFill>
                  <a:srgbClr val="1E293B"/>
                </a:solidFill>
                <a:latin typeface="Arial"/>
              </a:rPr>
              <a:t>Dữ liệu lưu trữ báo cáo doanh thu, thống kê theo khoảng thời gian.</a:t>
            </a:r>
          </a:p>
        </p:txBody>
      </p:sp>
      <p:pic>
        <p:nvPicPr>
          <p:cNvPr id="6" name="Picture 5">
            <a:extLst>
              <a:ext uri="{FF2B5EF4-FFF2-40B4-BE49-F238E27FC236}">
                <a16:creationId xmlns:a16="http://schemas.microsoft.com/office/drawing/2014/main" id="{92073ACA-8521-653E-99FD-18EF169E133E}"/>
              </a:ext>
            </a:extLst>
          </p:cNvPr>
          <p:cNvPicPr>
            <a:picLocks noChangeAspect="1"/>
          </p:cNvPicPr>
          <p:nvPr/>
        </p:nvPicPr>
        <p:blipFill>
          <a:blip r:embed="rId2"/>
          <a:srcRect/>
          <a:stretch>
            <a:fillRect/>
          </a:stretch>
        </p:blipFill>
        <p:spPr bwMode="auto">
          <a:xfrm>
            <a:off x="6026562" y="1945640"/>
            <a:ext cx="5756910" cy="254592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BFBFA"/>
        </a:solidFill>
        <a:effectLst/>
      </p:bgPr>
    </p:bg>
    <p:spTree>
      <p:nvGrpSpPr>
        <p:cNvPr id="1" name=""/>
        <p:cNvGrpSpPr/>
        <p:nvPr/>
      </p:nvGrpSpPr>
      <p:grpSpPr>
        <a:xfrm>
          <a:off x="0" y="0"/>
          <a:ext cx="0" cy="0"/>
          <a:chOff x="0" y="0"/>
          <a:chExt cx="0" cy="0"/>
        </a:xfrm>
      </p:grpSpPr>
      <p:sp>
        <p:nvSpPr>
          <p:cNvPr id="2" name="TextBox 1"/>
          <p:cNvSpPr txBox="1"/>
          <p:nvPr/>
        </p:nvSpPr>
        <p:spPr>
          <a:xfrm>
            <a:off x="685800" y="457200"/>
            <a:ext cx="10820095" cy="914400"/>
          </a:xfrm>
          <a:prstGeom prst="rect">
            <a:avLst/>
          </a:prstGeom>
          <a:noFill/>
        </p:spPr>
        <p:txBody>
          <a:bodyPr wrap="square" lIns="0" tIns="0" rIns="0" bIns="0">
            <a:spAutoFit/>
          </a:bodyPr>
          <a:lstStyle/>
          <a:p>
            <a:pPr>
              <a:defRPr sz="2800" b="1">
                <a:solidFill>
                  <a:srgbClr val="0F172A"/>
                </a:solidFill>
                <a:latin typeface="Georgia"/>
              </a:defRPr>
            </a:pPr>
            <a:r>
              <a:t>Chức năng đặt sân &amp; thanh toán</a:t>
            </a:r>
          </a:p>
        </p:txBody>
      </p:sp>
      <p:sp>
        <p:nvSpPr>
          <p:cNvPr id="3" name="Rectangle 2"/>
          <p:cNvSpPr/>
          <p:nvPr/>
        </p:nvSpPr>
        <p:spPr>
          <a:xfrm>
            <a:off x="685800" y="1188720"/>
            <a:ext cx="10820095" cy="2540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463040"/>
            <a:ext cx="10820095" cy="731520"/>
          </a:xfrm>
          <a:prstGeom prst="rect">
            <a:avLst/>
          </a:prstGeom>
          <a:noFill/>
        </p:spPr>
        <p:txBody>
          <a:bodyPr wrap="square" tIns="91440" bIns="91440">
            <a:spAutoFit/>
          </a:bodyPr>
          <a:lstStyle/>
          <a:p>
            <a:pPr>
              <a:defRPr sz="1800" b="1">
                <a:solidFill>
                  <a:srgbClr val="059669"/>
                </a:solidFill>
                <a:latin typeface="Georgia"/>
              </a:defRPr>
            </a:pPr>
            <a:r>
              <a:t>Luồng quy trình đặt sân và đối soát thanh toán</a:t>
            </a:r>
          </a:p>
        </p:txBody>
      </p:sp>
      <p:sp>
        <p:nvSpPr>
          <p:cNvPr id="5" name="Rounded Rectangle 4"/>
          <p:cNvSpPr/>
          <p:nvPr/>
        </p:nvSpPr>
        <p:spPr>
          <a:xfrm>
            <a:off x="685800" y="2286000"/>
            <a:ext cx="1371600" cy="1463040"/>
          </a:xfrm>
          <a:prstGeom prst="roundRect">
            <a:avLst/>
          </a:prstGeom>
          <a:solidFill>
            <a:srgbClr val="F1F5F9"/>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spcAft>
                <a:spcPts val="400"/>
              </a:spcAft>
              <a:defRPr sz="1100" b="1">
                <a:solidFill>
                  <a:srgbClr val="059669"/>
                </a:solidFill>
                <a:latin typeface="Arial"/>
              </a:defRPr>
            </a:pPr>
            <a:r>
              <a:t>1. Chọn Sân</a:t>
            </a:r>
          </a:p>
          <a:p>
            <a:pPr algn="ctr">
              <a:defRPr sz="1000">
                <a:solidFill>
                  <a:srgbClr val="1E293B"/>
                </a:solidFill>
                <a:latin typeface="Arial"/>
              </a:defRPr>
            </a:pPr>
            <a:r>
              <a:t>Xem ds sân hoạt động</a:t>
            </a:r>
          </a:p>
        </p:txBody>
      </p:sp>
      <p:sp>
        <p:nvSpPr>
          <p:cNvPr id="6" name="Rounded Rectangle 5"/>
          <p:cNvSpPr/>
          <p:nvPr/>
        </p:nvSpPr>
        <p:spPr>
          <a:xfrm>
            <a:off x="2240280" y="2286000"/>
            <a:ext cx="1371600" cy="1463040"/>
          </a:xfrm>
          <a:prstGeom prst="roundRect">
            <a:avLst/>
          </a:prstGeom>
          <a:solidFill>
            <a:srgbClr val="F1F5F9"/>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spcAft>
                <a:spcPts val="400"/>
              </a:spcAft>
              <a:defRPr sz="1100" b="1">
                <a:solidFill>
                  <a:srgbClr val="059669"/>
                </a:solidFill>
                <a:latin typeface="Arial"/>
              </a:defRPr>
            </a:pPr>
            <a:r>
              <a:t>2. Tra Cứu Lưới</a:t>
            </a:r>
          </a:p>
          <a:p>
            <a:pPr algn="ctr">
              <a:defRPr sz="1000">
                <a:solidFill>
                  <a:srgbClr val="1E293B"/>
                </a:solidFill>
                <a:latin typeface="Arial"/>
              </a:defRPr>
            </a:pPr>
            <a:r>
              <a:t>Kiểm tra ô giờ trống</a:t>
            </a:r>
          </a:p>
        </p:txBody>
      </p:sp>
      <p:sp>
        <p:nvSpPr>
          <p:cNvPr id="7" name="Rounded Rectangle 6"/>
          <p:cNvSpPr/>
          <p:nvPr/>
        </p:nvSpPr>
        <p:spPr>
          <a:xfrm>
            <a:off x="3794760" y="2286000"/>
            <a:ext cx="1371600" cy="1463040"/>
          </a:xfrm>
          <a:prstGeom prst="roundRect">
            <a:avLst/>
          </a:prstGeom>
          <a:solidFill>
            <a:srgbClr val="F1F5F9"/>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spcAft>
                <a:spcPts val="400"/>
              </a:spcAft>
              <a:defRPr sz="1100" b="1">
                <a:solidFill>
                  <a:srgbClr val="059669"/>
                </a:solidFill>
                <a:latin typeface="Arial"/>
              </a:defRPr>
            </a:pPr>
            <a:r>
              <a:t>3. Chọn Khung Giờ</a:t>
            </a:r>
          </a:p>
          <a:p>
            <a:pPr algn="ctr">
              <a:defRPr sz="1000">
                <a:solidFill>
                  <a:srgbClr val="1E293B"/>
                </a:solidFill>
                <a:latin typeface="Arial"/>
              </a:defRPr>
            </a:pPr>
            <a:r>
              <a:t>Tối đa hoạt động 6-21h</a:t>
            </a:r>
          </a:p>
        </p:txBody>
      </p:sp>
      <p:sp>
        <p:nvSpPr>
          <p:cNvPr id="8" name="Rounded Rectangle 7"/>
          <p:cNvSpPr/>
          <p:nvPr/>
        </p:nvSpPr>
        <p:spPr>
          <a:xfrm>
            <a:off x="5349240" y="2286000"/>
            <a:ext cx="1371600" cy="1463040"/>
          </a:xfrm>
          <a:prstGeom prst="roundRect">
            <a:avLst/>
          </a:prstGeom>
          <a:solidFill>
            <a:srgbClr val="F1F5F9"/>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spcAft>
                <a:spcPts val="400"/>
              </a:spcAft>
              <a:defRPr sz="1100" b="1">
                <a:solidFill>
                  <a:srgbClr val="059669"/>
                </a:solidFill>
                <a:latin typeface="Arial"/>
              </a:defRPr>
            </a:pPr>
            <a:r>
              <a:t>4. Check Trùng</a:t>
            </a:r>
          </a:p>
          <a:p>
            <a:pPr algn="ctr">
              <a:defRPr sz="1000">
                <a:solidFill>
                  <a:srgbClr val="1E293B"/>
                </a:solidFill>
                <a:latin typeface="Arial"/>
              </a:defRPr>
            </a:pPr>
            <a:r>
              <a:t>MongoDB Aggregation $expr</a:t>
            </a:r>
          </a:p>
        </p:txBody>
      </p:sp>
      <p:sp>
        <p:nvSpPr>
          <p:cNvPr id="9" name="Rounded Rectangle 8"/>
          <p:cNvSpPr/>
          <p:nvPr/>
        </p:nvSpPr>
        <p:spPr>
          <a:xfrm>
            <a:off x="6903720" y="2286000"/>
            <a:ext cx="1371600" cy="1463040"/>
          </a:xfrm>
          <a:prstGeom prst="roundRect">
            <a:avLst/>
          </a:prstGeom>
          <a:solidFill>
            <a:srgbClr val="F1F5F9"/>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spcAft>
                <a:spcPts val="400"/>
              </a:spcAft>
              <a:defRPr sz="1100" b="1">
                <a:solidFill>
                  <a:srgbClr val="059669"/>
                </a:solidFill>
                <a:latin typeface="Arial"/>
              </a:defRPr>
            </a:pPr>
            <a:r>
              <a:t>5. Tạo Booking</a:t>
            </a:r>
          </a:p>
          <a:p>
            <a:pPr algn="ctr">
              <a:defRPr sz="1000">
                <a:solidFill>
                  <a:srgbClr val="1E293B"/>
                </a:solidFill>
                <a:latin typeface="Arial"/>
              </a:defRPr>
            </a:pPr>
            <a:r>
              <a:t>Trạng thái Pending</a:t>
            </a:r>
          </a:p>
        </p:txBody>
      </p:sp>
      <p:sp>
        <p:nvSpPr>
          <p:cNvPr id="10" name="Rounded Rectangle 9"/>
          <p:cNvSpPr/>
          <p:nvPr/>
        </p:nvSpPr>
        <p:spPr>
          <a:xfrm>
            <a:off x="8458200" y="2286000"/>
            <a:ext cx="1371600" cy="1463040"/>
          </a:xfrm>
          <a:prstGeom prst="roundRect">
            <a:avLst/>
          </a:prstGeom>
          <a:solidFill>
            <a:srgbClr val="F1F5F9"/>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spcAft>
                <a:spcPts val="400"/>
              </a:spcAft>
              <a:defRPr sz="1100" b="1">
                <a:solidFill>
                  <a:srgbClr val="059669"/>
                </a:solidFill>
                <a:latin typeface="Arial"/>
              </a:defRPr>
            </a:pPr>
            <a:r>
              <a:t>6. Thanh Toán</a:t>
            </a:r>
          </a:p>
          <a:p>
            <a:pPr algn="ctr">
              <a:defRPr sz="1000">
                <a:solidFill>
                  <a:srgbClr val="1E293B"/>
                </a:solidFill>
                <a:latin typeface="Arial"/>
              </a:defRPr>
            </a:pPr>
            <a:r>
              <a:t>Cash hoặc Bank (tải ảnh)</a:t>
            </a:r>
          </a:p>
        </p:txBody>
      </p:sp>
      <p:sp>
        <p:nvSpPr>
          <p:cNvPr id="11" name="Rounded Rectangle 10"/>
          <p:cNvSpPr/>
          <p:nvPr/>
        </p:nvSpPr>
        <p:spPr>
          <a:xfrm>
            <a:off x="10012680" y="2286000"/>
            <a:ext cx="1371600" cy="1463040"/>
          </a:xfrm>
          <a:prstGeom prst="roundRect">
            <a:avLst/>
          </a:prstGeom>
          <a:solidFill>
            <a:srgbClr val="F1F5F9"/>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spcAft>
                <a:spcPts val="400"/>
              </a:spcAft>
              <a:defRPr sz="1100" b="1">
                <a:solidFill>
                  <a:srgbClr val="059669"/>
                </a:solidFill>
                <a:latin typeface="Arial"/>
              </a:defRPr>
            </a:pPr>
            <a:r>
              <a:t>7. Xác Nhận</a:t>
            </a:r>
          </a:p>
          <a:p>
            <a:pPr algn="ctr">
              <a:defRPr sz="1000">
                <a:solidFill>
                  <a:srgbClr val="1E293B"/>
                </a:solidFill>
                <a:latin typeface="Arial"/>
              </a:defRPr>
            </a:pPr>
            <a:r>
              <a:t>Nhân viên/Admin duyệt</a:t>
            </a:r>
          </a:p>
        </p:txBody>
      </p:sp>
      <p:sp>
        <p:nvSpPr>
          <p:cNvPr id="12" name="TextBox 11"/>
          <p:cNvSpPr txBox="1"/>
          <p:nvPr/>
        </p:nvSpPr>
        <p:spPr>
          <a:xfrm>
            <a:off x="685800" y="4114800"/>
            <a:ext cx="10820095" cy="2011680"/>
          </a:xfrm>
          <a:prstGeom prst="rect">
            <a:avLst/>
          </a:prstGeom>
          <a:noFill/>
        </p:spPr>
        <p:txBody>
          <a:bodyPr wrap="square" tIns="91440" bIns="91440">
            <a:spAutoFit/>
          </a:bodyPr>
          <a:lstStyle/>
          <a:p>
            <a:pPr>
              <a:spcAft>
                <a:spcPts val="600"/>
              </a:spcAft>
              <a:defRPr sz="1400" b="1">
                <a:solidFill>
                  <a:srgbClr val="0284C7"/>
                </a:solidFill>
                <a:latin typeface="Arial"/>
              </a:defRPr>
            </a:pPr>
            <a:r>
              <a:t>⭐ ĐIỂM NỔI BẬT TRONG CHỨC NĂNG</a:t>
            </a:r>
          </a:p>
          <a:p>
            <a:pPr>
              <a:spcAft>
                <a:spcPts val="400"/>
              </a:spcAft>
              <a:defRPr sz="1200" b="1">
                <a:solidFill>
                  <a:srgbClr val="0F172A"/>
                </a:solidFill>
                <a:latin typeface="Arial"/>
              </a:defRPr>
            </a:pPr>
            <a:r>
              <a:t>✔ Tối ưu hóa kiểm tra trùng lịch: </a:t>
            </a:r>
            <a:r>
              <a:rPr sz="1200" b="0">
                <a:solidFill>
                  <a:srgbClr val="1E293B"/>
                </a:solidFill>
                <a:latin typeface="Arial"/>
              </a:rPr>
              <a:t>Sử dụng toán tử $expr chuyển chuỗi 'HH:mm' thành số thực để so khớp chồng giờ ngay trong MongoDB Aggregation Pipeline, đạt tốc độ phản hồi cực nhanh dưới 100ms.</a:t>
            </a:r>
          </a:p>
          <a:p>
            <a:pPr>
              <a:spcAft>
                <a:spcPts val="400"/>
              </a:spcAft>
              <a:defRPr sz="1200" b="1">
                <a:solidFill>
                  <a:srgbClr val="0F172A"/>
                </a:solidFill>
                <a:latin typeface="Arial"/>
              </a:defRPr>
            </a:pPr>
            <a:r>
              <a:t>✔ Tự động giải phóng ô giờ (Lazy Expiration): </a:t>
            </a:r>
            <a:r>
              <a:rPr sz="1200" b="0">
                <a:solidFill>
                  <a:srgbClr val="1E293B"/>
                </a:solidFill>
                <a:latin typeface="Arial"/>
              </a:rPr>
              <a:t>Khi người dùng đặt sân nhưng không thanh toán, hạn thanh toán được tính: paymentExpiresAt = (Giờ kết thúc + 1 giờ). Hệ thống tự dọn dẹp và hủy đơn quá hạn trước mỗi truy vấn tra cứu, giải quyết hiện tượng nghẽn lịch ảo.</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BFBFA"/>
        </a:solidFill>
        <a:effectLst/>
      </p:bgPr>
    </p:bg>
    <p:spTree>
      <p:nvGrpSpPr>
        <p:cNvPr id="1" name=""/>
        <p:cNvGrpSpPr/>
        <p:nvPr/>
      </p:nvGrpSpPr>
      <p:grpSpPr>
        <a:xfrm>
          <a:off x="0" y="0"/>
          <a:ext cx="0" cy="0"/>
          <a:chOff x="0" y="0"/>
          <a:chExt cx="0" cy="0"/>
        </a:xfrm>
      </p:grpSpPr>
      <p:sp>
        <p:nvSpPr>
          <p:cNvPr id="2" name="TextBox 1"/>
          <p:cNvSpPr txBox="1"/>
          <p:nvPr/>
        </p:nvSpPr>
        <p:spPr>
          <a:xfrm>
            <a:off x="685800" y="457200"/>
            <a:ext cx="10820095" cy="914400"/>
          </a:xfrm>
          <a:prstGeom prst="rect">
            <a:avLst/>
          </a:prstGeom>
          <a:noFill/>
        </p:spPr>
        <p:txBody>
          <a:bodyPr wrap="square" lIns="0" tIns="0" rIns="0" bIns="0">
            <a:spAutoFit/>
          </a:bodyPr>
          <a:lstStyle/>
          <a:p>
            <a:pPr>
              <a:defRPr sz="2800" b="1">
                <a:solidFill>
                  <a:srgbClr val="0F172A"/>
                </a:solidFill>
                <a:latin typeface="Georgia"/>
              </a:defRPr>
            </a:pPr>
            <a:r>
              <a:t>Kiểm thử &amp; Kết quả</a:t>
            </a:r>
          </a:p>
        </p:txBody>
      </p:sp>
      <p:sp>
        <p:nvSpPr>
          <p:cNvPr id="3" name="Rectangle 2"/>
          <p:cNvSpPr/>
          <p:nvPr/>
        </p:nvSpPr>
        <p:spPr>
          <a:xfrm>
            <a:off x="685800" y="1188720"/>
            <a:ext cx="10820095" cy="2540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645920"/>
            <a:ext cx="5120640" cy="4389120"/>
          </a:xfrm>
          <a:prstGeom prst="rect">
            <a:avLst/>
          </a:prstGeom>
          <a:noFill/>
        </p:spPr>
        <p:txBody>
          <a:bodyPr wrap="square" tIns="91440" bIns="91440">
            <a:spAutoFit/>
          </a:bodyPr>
          <a:lstStyle/>
          <a:p>
            <a:pPr>
              <a:spcAft>
                <a:spcPts val="1000"/>
              </a:spcAft>
              <a:defRPr sz="1600" b="1">
                <a:solidFill>
                  <a:srgbClr val="059669"/>
                </a:solidFill>
                <a:latin typeface="Arial"/>
              </a:defRPr>
            </a:pPr>
            <a:r>
              <a:t>🧪 KIỂM THỬ HỘP ĐEN (BLACK-BOX TESTING)</a:t>
            </a:r>
          </a:p>
          <a:p>
            <a:pPr>
              <a:spcAft>
                <a:spcPts val="1000"/>
              </a:spcAft>
              <a:defRPr sz="1300">
                <a:solidFill>
                  <a:srgbClr val="1E293B"/>
                </a:solidFill>
                <a:latin typeface="Arial"/>
              </a:defRPr>
            </a:pPr>
            <a:r>
              <a:t>Đội ngũ phát triển thực hiện 29 kịch bản kiểm thử (Test Cases) chặt chẽ thông qua giao diện trực quan của Swagger UI, bao gồm các chức năng cốt lõi và các tình huống biên:</a:t>
            </a:r>
          </a:p>
          <a:p>
            <a:pPr>
              <a:spcAft>
                <a:spcPts val="400"/>
              </a:spcAft>
              <a:defRPr sz="1100">
                <a:solidFill>
                  <a:srgbClr val="1E293B"/>
                </a:solidFill>
                <a:latin typeface="Arial"/>
              </a:defRPr>
            </a:pPr>
            <a:r>
              <a:t>• Đăng ký/đăng nhập (TC01 - TC06): Kiểm tra tài khoản đã tồn tại, sai mật khẩu, số điện thoại trùng.</a:t>
            </a:r>
          </a:p>
          <a:p>
            <a:pPr>
              <a:spcAft>
                <a:spcPts val="400"/>
              </a:spcAft>
              <a:defRPr sz="1100">
                <a:solidFill>
                  <a:srgbClr val="1E293B"/>
                </a:solidFill>
                <a:latin typeface="Arial"/>
              </a:defRPr>
            </a:pPr>
            <a:r>
              <a:t>• Bảo mật API JWT &amp; Middleware (TC07 - TC09): Chặn truy cập không token hoặc sai role.</a:t>
            </a:r>
          </a:p>
          <a:p>
            <a:pPr>
              <a:spcAft>
                <a:spcPts val="400"/>
              </a:spcAft>
              <a:defRPr sz="1100">
                <a:solidFill>
                  <a:srgbClr val="1E293B"/>
                </a:solidFill>
                <a:latin typeface="Arial"/>
              </a:defRPr>
            </a:pPr>
            <a:r>
              <a:t>• Đặt sân &amp; Trùng lịch (TC10 - TC15): Kiểm tra chồng khung giờ, đặt sân bảo trì.</a:t>
            </a:r>
          </a:p>
          <a:p>
            <a:pPr>
              <a:spcAft>
                <a:spcPts val="400"/>
              </a:spcAft>
              <a:defRPr sz="1100">
                <a:solidFill>
                  <a:srgbClr val="1E293B"/>
                </a:solidFill>
                <a:latin typeface="Arial"/>
              </a:defRPr>
            </a:pPr>
            <a:r>
              <a:t>• Hủy đơn &amp; Hết hạn (TC16 - TC18): Tự động dọn dẹp đơn quá hạn, đồng bộ hóa đơn.</a:t>
            </a:r>
          </a:p>
          <a:p>
            <a:pPr>
              <a:spcAft>
                <a:spcPts val="400"/>
              </a:spcAft>
              <a:defRPr sz="1100">
                <a:solidFill>
                  <a:srgbClr val="1E293B"/>
                </a:solidFill>
                <a:latin typeface="Arial"/>
              </a:defRPr>
            </a:pPr>
            <a:r>
              <a:t>• Thanh toán (TC19 - TC25): Kiểm thử tải ảnh, thanh toán đơn đã hủy, cash/bank_transfer.</a:t>
            </a:r>
          </a:p>
        </p:txBody>
      </p:sp>
      <p:sp>
        <p:nvSpPr>
          <p:cNvPr id="5" name="TextBox 4"/>
          <p:cNvSpPr txBox="1"/>
          <p:nvPr/>
        </p:nvSpPr>
        <p:spPr>
          <a:xfrm>
            <a:off x="6217920" y="1645920"/>
            <a:ext cx="5303520" cy="4389120"/>
          </a:xfrm>
          <a:prstGeom prst="rect">
            <a:avLst/>
          </a:prstGeom>
          <a:noFill/>
        </p:spPr>
        <p:txBody>
          <a:bodyPr wrap="square" tIns="91440" bIns="91440">
            <a:spAutoFit/>
          </a:bodyPr>
          <a:lstStyle/>
          <a:p>
            <a:pPr>
              <a:spcAft>
                <a:spcPts val="1000"/>
              </a:spcAft>
              <a:defRPr sz="1600" b="1">
                <a:solidFill>
                  <a:srgbClr val="0284C7"/>
                </a:solidFill>
                <a:latin typeface="Arial"/>
              </a:defRPr>
            </a:pPr>
            <a:r>
              <a:t>📈 KẾT QUẢ KIỂM THỬ THỰC TẾ</a:t>
            </a:r>
          </a:p>
          <a:p>
            <a:pPr>
              <a:spcAft>
                <a:spcPts val="100"/>
              </a:spcAft>
              <a:defRPr sz="1300" b="1">
                <a:solidFill>
                  <a:srgbClr val="0F172A"/>
                </a:solidFill>
                <a:latin typeface="Arial"/>
              </a:defRPr>
            </a:pPr>
            <a:r>
              <a:t>✔ Độ tin cậy đạt 100%</a:t>
            </a:r>
          </a:p>
          <a:p>
            <a:pPr>
              <a:spcAft>
                <a:spcPts val="800"/>
              </a:spcAft>
              <a:defRPr sz="1100">
                <a:solidFill>
                  <a:srgbClr val="1E293B"/>
                </a:solidFill>
                <a:latin typeface="Arial"/>
              </a:defRPr>
            </a:pPr>
            <a:r>
              <a:t>Cả 29 kịch bản đều vượt qua kiểm thử thành công, xử lý đúng nghiệp vụ và phản hồi mã lỗi chuẩn RESTful.</a:t>
            </a:r>
          </a:p>
          <a:p>
            <a:pPr>
              <a:spcAft>
                <a:spcPts val="100"/>
              </a:spcAft>
              <a:defRPr sz="1300" b="1">
                <a:solidFill>
                  <a:srgbClr val="0F172A"/>
                </a:solidFill>
                <a:latin typeface="Arial"/>
              </a:defRPr>
            </a:pPr>
            <a:r>
              <a:t>✔ Xử lý ngoại lệ tốt</a:t>
            </a:r>
          </a:p>
          <a:p>
            <a:pPr>
              <a:spcAft>
                <a:spcPts val="800"/>
              </a:spcAft>
              <a:defRPr sz="1100">
                <a:solidFill>
                  <a:srgbClr val="1E293B"/>
                </a:solidFill>
                <a:latin typeface="Arial"/>
              </a:defRPr>
            </a:pPr>
            <a:r>
              <a:t>Kiểm tra chồng chéo giờ, booking pending quá hạn và trạng thái thanh toán đều đồng bộ chính xác đúng theo thiết kế.</a:t>
            </a:r>
          </a:p>
          <a:p>
            <a:pPr>
              <a:spcAft>
                <a:spcPts val="100"/>
              </a:spcAft>
              <a:defRPr sz="1300" b="1">
                <a:solidFill>
                  <a:srgbClr val="0F172A"/>
                </a:solidFill>
                <a:latin typeface="Arial"/>
              </a:defRPr>
            </a:pPr>
            <a:r>
              <a:t>✔ Hạn chế kỹ thuật</a:t>
            </a:r>
          </a:p>
          <a:p>
            <a:pPr>
              <a:spcAft>
                <a:spcPts val="800"/>
              </a:spcAft>
              <a:defRPr sz="1100">
                <a:solidFill>
                  <a:srgbClr val="1E293B"/>
                </a:solidFill>
                <a:latin typeface="Arial"/>
              </a:defRPr>
            </a:pPr>
            <a:r>
              <a:t>Phát hiện module loại sân chưa gán middleware bảo mật; đơn hủy đã thanh toán chưa cập nhật refunded tự động; cần tối ưu thời gian giữ các lịch đặt ở tương lai rất xa.</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BFBFA"/>
        </a:solidFill>
        <a:effectLst/>
      </p:bgPr>
    </p:bg>
    <p:spTree>
      <p:nvGrpSpPr>
        <p:cNvPr id="1" name=""/>
        <p:cNvGrpSpPr/>
        <p:nvPr/>
      </p:nvGrpSpPr>
      <p:grpSpPr>
        <a:xfrm>
          <a:off x="0" y="0"/>
          <a:ext cx="0" cy="0"/>
          <a:chOff x="0" y="0"/>
          <a:chExt cx="0" cy="0"/>
        </a:xfrm>
      </p:grpSpPr>
      <p:sp>
        <p:nvSpPr>
          <p:cNvPr id="2" name="Rectangle 1"/>
          <p:cNvSpPr/>
          <p:nvPr/>
        </p:nvSpPr>
        <p:spPr>
          <a:xfrm>
            <a:off x="457200" y="457200"/>
            <a:ext cx="11277295" cy="5943600"/>
          </a:xfrm>
          <a:prstGeom prst="rect">
            <a:avLst/>
          </a:prstGeom>
          <a:solidFill>
            <a:srgbClr val="F1F5F9"/>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914400"/>
            <a:ext cx="4754880" cy="5029200"/>
          </a:xfrm>
          <a:prstGeom prst="rect">
            <a:avLst/>
          </a:prstGeom>
          <a:noFill/>
        </p:spPr>
        <p:txBody>
          <a:bodyPr wrap="square" tIns="91440" bIns="91440">
            <a:spAutoFit/>
          </a:bodyPr>
          <a:lstStyle/>
          <a:p>
            <a:pPr>
              <a:spcAft>
                <a:spcPts val="1400"/>
              </a:spcAft>
              <a:defRPr sz="2400" b="1">
                <a:solidFill>
                  <a:srgbClr val="059669"/>
                </a:solidFill>
                <a:latin typeface="Georgia"/>
              </a:defRPr>
            </a:pPr>
            <a:r>
              <a:t>KẾT LUẬN &amp; HƯỚNG PHÁT TRIỂN</a:t>
            </a:r>
          </a:p>
          <a:p>
            <a:pPr>
              <a:spcAft>
                <a:spcPts val="400"/>
              </a:spcAft>
              <a:defRPr sz="1400" b="1">
                <a:solidFill>
                  <a:srgbClr val="0F172A"/>
                </a:solidFill>
                <a:latin typeface="Arial"/>
              </a:defRPr>
            </a:pPr>
            <a:r>
              <a:t>🎯 Kết quả đạt được:</a:t>
            </a:r>
          </a:p>
          <a:p>
            <a:pPr>
              <a:spcAft>
                <a:spcPts val="300"/>
              </a:spcAft>
              <a:defRPr sz="1200">
                <a:solidFill>
                  <a:srgbClr val="1E293B"/>
                </a:solidFill>
                <a:latin typeface="Arial"/>
              </a:defRPr>
            </a:pPr>
            <a:r>
              <a:t>- Hoàn thiện toàn bộ hệ thống frontend + backend + database.</a:t>
            </a:r>
          </a:p>
          <a:p>
            <a:pPr>
              <a:spcAft>
                <a:spcPts val="300"/>
              </a:spcAft>
              <a:defRPr sz="1200">
                <a:solidFill>
                  <a:srgbClr val="1E293B"/>
                </a:solidFill>
                <a:latin typeface="Arial"/>
              </a:defRPr>
            </a:pPr>
            <a:r>
              <a:t>- Áp dụng thành công quy trình Agile - Scrum linh hoạt.</a:t>
            </a:r>
          </a:p>
          <a:p>
            <a:pPr>
              <a:spcAft>
                <a:spcPts val="300"/>
              </a:spcAft>
              <a:defRPr sz="1200">
                <a:solidFill>
                  <a:srgbClr val="1E293B"/>
                </a:solidFill>
                <a:latin typeface="Arial"/>
              </a:defRPr>
            </a:pPr>
            <a:r>
              <a:t>- Giải quyết triệt để vấn đề đặt trùng lịch &amp; giữ chỗ ảo.</a:t>
            </a:r>
          </a:p>
          <a:p>
            <a:pPr>
              <a:spcAft>
                <a:spcPts val="300"/>
              </a:spcAft>
              <a:defRPr sz="1200">
                <a:solidFill>
                  <a:srgbClr val="1E293B"/>
                </a:solidFill>
                <a:latin typeface="Arial"/>
              </a:defRPr>
            </a:pPr>
            <a:r>
              <a:t>- Đóng gói Docker Compose dễ dàng triển khai nhanh chóng.</a:t>
            </a:r>
          </a:p>
        </p:txBody>
      </p:sp>
      <p:sp>
        <p:nvSpPr>
          <p:cNvPr id="4" name="TextBox 3"/>
          <p:cNvSpPr txBox="1"/>
          <p:nvPr/>
        </p:nvSpPr>
        <p:spPr>
          <a:xfrm>
            <a:off x="6217920" y="914400"/>
            <a:ext cx="5029200" cy="5029200"/>
          </a:xfrm>
          <a:prstGeom prst="rect">
            <a:avLst/>
          </a:prstGeom>
          <a:noFill/>
        </p:spPr>
        <p:txBody>
          <a:bodyPr wrap="square" tIns="91440" bIns="91440">
            <a:spAutoFit/>
          </a:bodyPr>
          <a:lstStyle/>
          <a:p>
            <a:pPr>
              <a:spcAft>
                <a:spcPts val="400"/>
              </a:spcAft>
              <a:defRPr sz="1400" b="1">
                <a:solidFill>
                  <a:srgbClr val="0284C7"/>
                </a:solidFill>
                <a:latin typeface="Arial"/>
              </a:defRPr>
            </a:pPr>
            <a:r>
              <a:t>🚀 Hướng phát triển tiếp theo:</a:t>
            </a:r>
          </a:p>
          <a:p>
            <a:pPr>
              <a:spcAft>
                <a:spcPts val="300"/>
              </a:spcAft>
              <a:defRPr sz="1200">
                <a:solidFill>
                  <a:srgbClr val="1E293B"/>
                </a:solidFill>
                <a:latin typeface="Arial"/>
              </a:defRPr>
            </a:pPr>
            <a:r>
              <a:t>- Tích hợp cổng thanh toán trực tiếp VNPay/MoMo/ZaloPay.</a:t>
            </a:r>
          </a:p>
          <a:p>
            <a:pPr>
              <a:spcAft>
                <a:spcPts val="300"/>
              </a:spcAft>
              <a:defRPr sz="1200">
                <a:solidFill>
                  <a:srgbClr val="1E293B"/>
                </a:solidFill>
                <a:latin typeface="Arial"/>
              </a:defRPr>
            </a:pPr>
            <a:r>
              <a:t>- Xây dựng Mobile App tiện dụng bằng React Native.</a:t>
            </a:r>
          </a:p>
          <a:p>
            <a:pPr>
              <a:spcAft>
                <a:spcPts val="300"/>
              </a:spcAft>
              <a:defRPr sz="1200">
                <a:solidFill>
                  <a:srgbClr val="1E293B"/>
                </a:solidFill>
                <a:latin typeface="Arial"/>
              </a:defRPr>
            </a:pPr>
            <a:r>
              <a:t>- Áp dụng WebSockets đồng bộ lịch đặt tức thời.</a:t>
            </a:r>
          </a:p>
          <a:p>
            <a:pPr>
              <a:spcAft>
                <a:spcPts val="300"/>
              </a:spcAft>
              <a:defRPr sz="1200">
                <a:solidFill>
                  <a:srgbClr val="1E293B"/>
                </a:solidFill>
                <a:latin typeface="Arial"/>
              </a:defRPr>
            </a:pPr>
            <a:r>
              <a:t>- Thêm thông báo tự động SMS/Email cho khách hàng.</a:t>
            </a:r>
          </a:p>
          <a:p>
            <a:br/>
            <a:br/>
            <a:r>
              <a:t>CẢM ƠN THẦY VÀ CÁC BẠN ĐÃ LẮNG NGHE!</a:t>
            </a:r>
          </a:p>
        </p:txBody>
      </p:sp>
      <p:sp>
        <p:nvSpPr>
          <p:cNvPr id="6" name="TextBox 5">
            <a:extLst>
              <a:ext uri="{FF2B5EF4-FFF2-40B4-BE49-F238E27FC236}">
                <a16:creationId xmlns:a16="http://schemas.microsoft.com/office/drawing/2014/main" id="{2B889376-DE26-03DA-3DBC-7C10945355E8}"/>
              </a:ext>
            </a:extLst>
          </p:cNvPr>
          <p:cNvSpPr txBox="1"/>
          <p:nvPr/>
        </p:nvSpPr>
        <p:spPr>
          <a:xfrm>
            <a:off x="3703320" y="4042303"/>
            <a:ext cx="5029200" cy="738664"/>
          </a:xfrm>
          <a:prstGeom prst="rect">
            <a:avLst/>
          </a:prstGeom>
          <a:noFill/>
        </p:spPr>
        <p:txBody>
          <a:bodyPr wrap="square" tIns="91440" bIns="91440">
            <a:spAutoFit/>
          </a:bodyPr>
          <a:lstStyle/>
          <a:p>
            <a:br/>
            <a:r>
              <a:t>CẢM ƠN THẦY VÀ CÁC BẠN ĐÃ LẮNG NGHE!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235</TotalTime>
  <Words>2285</Words>
  <Application>Microsoft Office PowerPoint</Application>
  <PresentationFormat>Widescreen</PresentationFormat>
  <Paragraphs>207</Paragraphs>
  <Slides>13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Nguyen Gia</cp:lastModifiedBy>
  <cp:revision>8</cp:revision>
  <dcterms:created xsi:type="dcterms:W3CDTF">2013-01-27T09:14:16Z</dcterms:created>
  <dcterms:modified xsi:type="dcterms:W3CDTF">2026-08-26T04:13:22Z</dcterms:modified>
  <cp:category/>
</cp:coreProperties>
</file>